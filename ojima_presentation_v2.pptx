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5" r:id="rId3"/>
    <p:sldId id="257" r:id="rId4"/>
    <p:sldId id="258" r:id="rId5"/>
    <p:sldId id="259" r:id="rId6"/>
    <p:sldId id="260" r:id="rId7"/>
    <p:sldId id="261" r:id="rId8"/>
    <p:sldId id="262" r:id="rId9"/>
    <p:sldId id="263" r:id="rId10"/>
    <p:sldId id="266" r:id="rId11"/>
    <p:sldId id="264" r:id="rId12"/>
  </p:sldIdLst>
  <p:sldSz cx="12192000" cy="6858000"/>
  <p:notesSz cx="6858000" cy="914400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主たる問いは、住宅地の形成と物的な維持更新の経緯。人口維持の要因や住民の危険認知は扱わない。資料確認日2026-10-26。詳細は併読用Markdownの節1、節10。</a:t>
            </a:r>
            <a:endParaRPr lang="ja-JP" sz="1125"/>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主たる問いは、現在の洪水浸水想定区域に住宅地が形成され、物的な維持更新を経て継続してきた経緯である。人口維持の要因や住民個人の判断には置き換えない。エリア大半の浸水深3〜5m・継続2週間以上は江東区「大島四丁目エリアまちづくり方針」2025年10月、本文p.30。団地は周囲より地盤が高く、全地点の深さは一様ではない。</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住宅地の歴史と現行の浸水想定を同時に見たときに生じる問いを提示する。建設当時の危険度や安全性を現行図から逆算しない。</a:t>
            </a:r>
            <a:endParaRPr lang="ja-JP" sz="1125"/>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R7 RESAS「地域人口メッシュ分析」。元データ：総務省「国勢調査に関する地域メッシュ統計」、背景：地理院タイル。2020年、総数、総人口、江東区。サイトのキャプチャ機能で2026-10-26取得。</a:t>
            </a:r>
            <a:endParaRPr lang="ja-JP" sz="1125"/>
          </a:p>
          <a:p>
            <a:pPr algn="l">
              <a:lnSpc>
                <a:spcPct val="125000"/>
              </a:lnSpc>
              <a:spcAft>
                <a:spcPts val="600"/>
              </a:spcAft>
            </a:pPr>
            <a:r>
              <a:rPr lang="ja-JP" sz="1125" b="0">
                <a:solidFill>
                  <a:srgbClr val="253B46"/>
                </a:solidFill>
                <a:latin typeface="YuGothic"/>
                <a:ea typeface="YuGothic"/>
                <a:cs typeface="YuGothic"/>
              </a:rPr>
              <a:t>https://resas.go.jp/population-mesh/?pref=13&amp;city=13108&amp;tab=0&amp;year=2020&amp;level=city&amp;lat=35.686&amp;lng=139.829&amp;zoom=15&amp;mapTile=pale&amp;opacity=0.6&amp;data=total&amp;content=population</a:t>
            </a:r>
            <a:endParaRPr lang="ja-JP" sz="1125"/>
          </a:p>
          <a:p>
            <a:pPr algn="l">
              <a:lnSpc>
                <a:spcPct val="125000"/>
              </a:lnSpc>
              <a:spcAft>
                <a:spcPts val="600"/>
              </a:spcAft>
            </a:pPr>
            <a:r>
              <a:rPr lang="ja-JP" sz="1125" b="0">
                <a:solidFill>
                  <a:srgbClr val="253B46"/>
                </a:solidFill>
                <a:latin typeface="YuGothic"/>
                <a:ea typeface="YuGothic"/>
                <a:cs typeface="YuGothic"/>
              </a:rPr>
              <a:t>画像はキャプチャ出力全体を使用。メッシュは約500mで町丁目・団地の境界と一致しない。地図内の灰色枠はアプリ画面に含まれる表示であり、本発表で団地を指定した範囲ではない。人口分布の補助的観察に限定し、区域内人口や因果効果は算出しない。</a:t>
            </a:r>
            <a:endParaRPr lang="ja-JP" sz="1125"/>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 江東区「大島四丁目エリアまちづくり方針」2025年10月、本文p.30（PDF32ページ）。洪水欄を切り抜き、凡例と元図の出典表記を保持。</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図は2025年6月改訂の洪水ハザードマップに基づく。赤枠は区のエリア範囲で、団地単独の境界ではない。原図の色分類や深さを変更していない。RESASとの同一縮尺の重ね合わせではない。R6では現行版は2026年8月改訂。版間全メッシュ差分は未検証。</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R1 国土交通省掲載「大島四丁目団地（東京都江東区）説明資料」別添7、PDF2ページ。</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建設当時の背景・目的は資料の直接記述に基づく。掲載写真の団地外観部分を切り抜き。写真撮影年月日は未確認。現在の外観を示す写真としては扱わない。R2本文p.4は日曹製鋼工場跡地への団地建設を記録。</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R1は建設後の回顧資料であり当時の原決裁ではない。面開発市街地住宅の個別用地選定・水害審査は未確認。</a:t>
            </a:r>
            <a:endParaRPr lang="ja-JP" sz="1125"/>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 江東区まちづくり方針、本文pp.5〜6。</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R4 昭和44年版政府白書は当時の水害・地盤沈下問題と地下水規制を記録。</a:t>
            </a:r>
            <a:endParaRPr lang="ja-JP" sz="1125"/>
          </a:p>
          <a:p>
            <a:pPr algn="l">
              <a:lnSpc>
                <a:spcPct val="125000"/>
              </a:lnSpc>
              <a:spcAft>
                <a:spcPts val="600"/>
              </a:spcAft>
            </a:pPr>
            <a:r>
              <a:rPr lang="ja-JP" sz="1125" b="0">
                <a:solidFill>
                  <a:srgbClr val="253B46"/>
                </a:solidFill>
                <a:latin typeface="YuGothic"/>
                <a:ea typeface="YuGothic"/>
                <a:cs typeface="YuGothic"/>
              </a:rPr>
              <a:t>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表は作成者が再構成した編集可能な年表。水門・外郭堤防は地域の施設で、団地専用ではない。高潮・内部河川・荒川洪水の対策を同一視しない。R1の昭和43年度管理開始とR2の1969年表記は両立しうるため、団地は1960年代後半とする。施設完成を団地建設の決定条件とした記録は未取得。</a:t>
            </a:r>
            <a:endParaRPr lang="ja-JP" sz="1125"/>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R1「大島四丁目団地説明資料」PDF4ページ：総合的団地環境整備事業（1998〜2003年度）、PDF6ページ：約800戸のリニューアル（1999年度〜2008年10月実績）。</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写真はPDF4ページ右上の当該団地の屋外環境整備写真を切り抜き。撮影年月日未確認で、現在写真ではない。PDF6ページの室内写真は一般的な改修例と明記されるため、当該団地の実写と誤認しないよう本発表では使用しない。改修は物的な利用継続を示し、住民の定住理由や水害安全性の証明ではない。</a:t>
            </a:r>
            <a:endParaRPr lang="ja-JP" sz="1125"/>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R2「大島四丁目エリアまちづくり方針」本文p.49（PDF51ページ）の図を抜粋。</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原図は「西大島地域まちづくり方針【増補版】をもとに作成」と表記。2025年10月の方針を紹介し、整備完了とは扱わない。図中の「今後整備が想定される」という表示を保持。本文p.48は避難・維持・救助の機能を説明。図の下の出典を含めた来歴は本ノートに記録。</a:t>
            </a:r>
            <a:endParaRPr lang="ja-JP" sz="1125"/>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結論はR1、R2、R3、R4、R5、R6の記述を組み合わせた作成者の歴史的説明。個別の水害審査、用地の代替案、各対策の因果効果は未確認。人口維持や住民の危険認知を説明したとはしない。</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https://www.city.koto.lg.jp/011501/kuse/profile/shoseki/documents/kotoayumi202603.pdf</a:t>
            </a:r>
            <a:endParaRPr lang="ja-JP" sz="1125"/>
          </a:p>
          <a:p>
            <a:pPr algn="l">
              <a:lnSpc>
                <a:spcPct val="125000"/>
              </a:lnSpc>
              <a:spcAft>
                <a:spcPts val="600"/>
              </a:spcAft>
            </a:pPr>
            <a:r>
              <a:rPr lang="ja-JP" sz="1125" b="0">
                <a:solidFill>
                  <a:srgbClr val="253B46"/>
                </a:solidFill>
                <a:latin typeface="YuGothic"/>
                <a:ea typeface="YuGothic"/>
                <a:cs typeface="YuGothic"/>
              </a:rPr>
              <a:t>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本スライドは既に示した資料を統合する考察である。R1は住宅不足・工場跡地活用・市街地改善という建設目的と改修実績を記述する。R2は地域の整備年表と現在の浸水対応方針を示す。R5・R6は水害対策と残余の浸水想定を区別して読むための根拠。治水の完成を建設の決定条件とした個別の審査・決裁は未取得であり、対策ごとの因果効果や住宅の安全性は断定しない。</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a:p>
            <a:pPr algn="l">
              <a:lnSpc>
                <a:spcPct val="125000"/>
              </a:lnSpc>
              <a:spcAft>
                <a:spcPts val="600"/>
              </a:spcAft>
            </a:pPr>
            <a:r>
              <a:rPr lang="ja-JP" sz="1125" b="0">
                <a:solidFill>
                  <a:srgbClr val="253B46"/>
                </a:solidFill>
                <a:latin typeface="YuGothic"/>
                <a:ea typeface="YuGothic"/>
                <a:cs typeface="YuGothic"/>
              </a:rPr>
              <a:t>原資料を必要とする事項は、併読用Markdown第9節を参照。</a:t>
            </a:r>
            <a:endParaRPr lang="ja-JP" sz="1125"/>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資料確認日：2026-10-26。各図の切り抜き・版・時点は対応スライドのノートに記録。完全な書誌、ページ、URL、論証範囲は併読用Markdown参照。</a:t>
            </a:r>
            <a:endParaRPr lang="ja-JP" sz="1125"/>
          </a:p>
          <a:p>
            <a:pPr algn="l">
              <a:lnSpc>
                <a:spcPct val="125000"/>
              </a:lnSpc>
              <a:spcAft>
                <a:spcPts val="600"/>
              </a:spcAft>
            </a:pPr>
            <a:r>
              <a:rPr lang="ja-JP" sz="1125" b="0">
                <a:solidFill>
                  <a:srgbClr val="253B46"/>
                </a:solidFill>
                <a:latin typeface="YuGothic"/>
                <a:ea typeface="YuGothic"/>
                <a:cs typeface="YuGothic"/>
              </a:rPr>
              <a:t>R1 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R2 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R3 https://www.city.koto.lg.jp/011501/kuse/profile/shoseki/documents/kotoayumi202603.pdf</a:t>
            </a:r>
            <a:endParaRPr lang="ja-JP" sz="1125"/>
          </a:p>
          <a:p>
            <a:pPr algn="l">
              <a:lnSpc>
                <a:spcPct val="125000"/>
              </a:lnSpc>
              <a:spcAft>
                <a:spcPts val="600"/>
              </a:spcAft>
            </a:pPr>
            <a:r>
              <a:rPr lang="ja-JP" sz="1125" b="0">
                <a:solidFill>
                  <a:srgbClr val="253B46"/>
                </a:solidFill>
                <a:latin typeface="YuGothic"/>
                <a:ea typeface="YuGothic"/>
                <a:cs typeface="YuGothic"/>
              </a:rPr>
              <a:t>R4 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R5 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R6 https://www.city.koto.lg.jp/470601/20200701.html</a:t>
            </a:r>
            <a:endParaRPr lang="ja-JP" sz="1125"/>
          </a:p>
          <a:p>
            <a:pPr algn="l">
              <a:lnSpc>
                <a:spcPct val="125000"/>
              </a:lnSpc>
              <a:spcAft>
                <a:spcPts val="600"/>
              </a:spcAft>
            </a:pPr>
            <a:r>
              <a:rPr lang="ja-JP" sz="1125" b="0">
                <a:solidFill>
                  <a:srgbClr val="253B46"/>
                </a:solidFill>
                <a:latin typeface="YuGothic"/>
                <a:ea typeface="YuGothic"/>
                <a:cs typeface="YuGothic"/>
              </a:rPr>
              <a:t>R7 https://resas.go.jp/population-mesh/?pref=13&amp;city=13108&amp;tab=0&amp;year=2020&amp;level=city&amp;lat=35.686&amp;lng=139.829&amp;zoom=15&amp;mapTile=pale&amp;opacity=0.6&amp;data=total&amp;content=population</a:t>
            </a:r>
            <a:endParaRPr lang="ja-JP" sz="1125"/>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1964531"/>
            <a:ext cx="10477500" cy="2271712"/>
          </a:xfrm>
          <a:prstGeom prst="rect">
            <a:avLst/>
          </a:prstGeom>
          <a:noFill/>
          <a:ln>
            <a:noFill/>
          </a:ln>
        </p:spPr>
        <p:txBody>
          <a:bodyPr wrap="square" lIns="0" tIns="0" rIns="0" bIns="0" anchor="t"/>
          <a:lstStyle/>
          <a:p>
            <a:pPr algn="l">
              <a:lnSpc>
                <a:spcPct val="125000"/>
              </a:lnSpc>
              <a:spcAft>
                <a:spcPts val="600"/>
              </a:spcAft>
            </a:pPr>
            <a:r>
              <a:rPr lang="ja-JP" sz="4118" b="1">
                <a:solidFill>
                  <a:srgbClr val="152E3A"/>
                </a:solidFill>
                <a:latin typeface="YuGothic"/>
                <a:ea typeface="YuGothic"/>
                <a:cs typeface="YuGothic"/>
              </a:rPr>
              <a:t>浸水想定区域の</a:t>
            </a:r>
            <a:endParaRPr lang="ja-JP" sz="4118"/>
          </a:p>
          <a:p>
            <a:pPr algn="l">
              <a:lnSpc>
                <a:spcPct val="125000"/>
              </a:lnSpc>
              <a:spcAft>
                <a:spcPts val="600"/>
              </a:spcAft>
            </a:pPr>
            <a:r>
              <a:rPr lang="ja-JP" sz="4118" b="1">
                <a:solidFill>
                  <a:srgbClr val="152E3A"/>
                </a:solidFill>
                <a:latin typeface="YuGothic"/>
                <a:ea typeface="YuGothic"/>
                <a:cs typeface="YuGothic"/>
              </a:rPr>
              <a:t>住宅地は、どう形成され</a:t>
            </a:r>
            <a:endParaRPr lang="ja-JP" sz="4118"/>
          </a:p>
          <a:p>
            <a:pPr algn="l">
              <a:lnSpc>
                <a:spcPct val="125000"/>
              </a:lnSpc>
              <a:spcAft>
                <a:spcPts val="600"/>
              </a:spcAft>
            </a:pPr>
            <a:r>
              <a:rPr lang="ja-JP" sz="4118" b="1">
                <a:solidFill>
                  <a:srgbClr val="152E3A"/>
                </a:solidFill>
                <a:latin typeface="YuGothic"/>
                <a:ea typeface="YuGothic"/>
                <a:cs typeface="YuGothic"/>
              </a:rPr>
              <a:t>更新されてきたのか</a:t>
            </a:r>
            <a:endParaRPr lang="ja-JP" sz="4118"/>
          </a:p>
        </p:txBody>
      </p:sp>
      <p:sp>
        <p:nvSpPr>
          <p:cNvPr id="3" name="Text 3"/>
          <p:cNvSpPr txBox="1"/>
          <p:nvPr/>
        </p:nvSpPr>
        <p:spPr>
          <a:xfrm>
            <a:off x="723900" y="4571524"/>
            <a:ext cx="10477500" cy="51435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江東区大島四丁目団地を中心とする文献・地図調査</a:t>
            </a:r>
            <a:endParaRPr lang="ja-JP" sz="1958"/>
          </a:p>
        </p:txBody>
      </p:sp>
      <p:sp>
        <p:nvSpPr>
          <p:cNvPr id="4" name="Text 4"/>
          <p:cNvSpPr txBox="1"/>
          <p:nvPr/>
        </p:nvSpPr>
        <p:spPr>
          <a:xfrm>
            <a:off x="723900" y="5632132"/>
            <a:ext cx="8572500" cy="308610"/>
          </a:xfrm>
          <a:prstGeom prst="rect">
            <a:avLst/>
          </a:prstGeom>
          <a:noFill/>
          <a:ln>
            <a:noFill/>
          </a:ln>
        </p:spPr>
        <p:txBody>
          <a:bodyPr wrap="square" lIns="0" tIns="0" rIns="0" bIns="0" anchor="t"/>
          <a:lstStyle/>
          <a:p>
            <a:pPr algn="l">
              <a:lnSpc>
                <a:spcPct val="125000"/>
              </a:lnSpc>
              <a:spcAft>
                <a:spcPts val="600"/>
              </a:spcAft>
            </a:pPr>
            <a:r>
              <a:rPr lang="ja-JP" sz="1350" b="0">
                <a:solidFill>
                  <a:srgbClr val="66747C"/>
                </a:solidFill>
                <a:latin typeface="YuGothic"/>
                <a:ea typeface="YuGothic"/>
                <a:cs typeface="YuGothic"/>
              </a:rPr>
              <a:t>資料確認日 2026年10月26日</a:t>
            </a:r>
            <a:endParaRPr lang="ja-JP" sz="1350"/>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形成の理由と、現在までの維持更新を調べる</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01 / 11</a:t>
            </a:r>
            <a:endParaRPr lang="ja-JP" sz="1200"/>
          </a:p>
        </p:txBody>
      </p:sp>
      <p:sp>
        <p:nvSpPr>
          <p:cNvPr id="7"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導入</a:t>
            </a:r>
            <a:endParaRPr lang="ja-JP" sz="1650"/>
          </a:p>
        </p:txBody>
      </p:sp>
      <p:sp>
        <p:nvSpPr>
          <p:cNvPr id="8"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0"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3" name="進行 1/11" descr="現在のスライド"/>
          <p:cNvSpPr/>
          <p:nvPr/>
        </p:nvSpPr>
        <p:spPr>
          <a:xfrm>
            <a:off x="781050" y="581025"/>
            <a:ext cx="114300" cy="114300"/>
          </a:xfrm>
          <a:prstGeom prst="ellipse">
            <a:avLst/>
          </a:prstGeom>
          <a:solidFill>
            <a:srgbClr val="254D5C"/>
          </a:solidFill>
          <a:ln w="14287">
            <a:solidFill>
              <a:srgbClr val="254D5C"/>
            </a:solidFill>
          </a:ln>
        </p:spPr>
        <p:txBody>
          <a:bodyPr/>
          <a:lstStyle/>
          <a:p>
            <a:endParaRPr lang="ja-JP" altLang="en-US"/>
          </a:p>
        </p:txBody>
      </p:sp>
      <p:sp>
        <p:nvSpPr>
          <p:cNvPr id="14"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09600" y="1057275"/>
            <a:ext cx="10953750" cy="666750"/>
          </a:xfrm>
          <a:prstGeom prst="rect">
            <a:avLst/>
          </a:prstGeom>
          <a:noFill/>
          <a:ln>
            <a:noFill/>
          </a:ln>
        </p:spPr>
        <p:txBody>
          <a:bodyPr wrap="square" lIns="0" tIns="0" rIns="0" bIns="0" anchor="t"/>
          <a:lstStyle/>
          <a:p>
            <a:pPr algn="l">
              <a:lnSpc>
                <a:spcPct val="115000"/>
              </a:lnSpc>
            </a:pPr>
            <a:r>
              <a:rPr lang="ja-JP" sz="3300" b="1">
                <a:solidFill>
                  <a:srgbClr val="152E3A"/>
                </a:solidFill>
                <a:latin typeface="YuGothic"/>
                <a:ea typeface="YuGothic"/>
                <a:cs typeface="YuGothic"/>
              </a:rPr>
              <a:t>この発表で解く謎</a:t>
            </a:r>
            <a:endParaRPr lang="ja-JP" sz="3300"/>
          </a:p>
        </p:txBody>
      </p:sp>
      <p:sp>
        <p:nvSpPr>
          <p:cNvPr id="3" name="現在の想定"/>
          <p:cNvSpPr txBox="1"/>
          <p:nvPr/>
        </p:nvSpPr>
        <p:spPr>
          <a:xfrm>
            <a:off x="609600" y="2095500"/>
            <a:ext cx="10906125" cy="381000"/>
          </a:xfrm>
          <a:prstGeom prst="rect">
            <a:avLst/>
          </a:prstGeom>
          <a:noFill/>
          <a:ln>
            <a:noFill/>
          </a:ln>
        </p:spPr>
        <p:txBody>
          <a:bodyPr wrap="square" lIns="0" tIns="0" rIns="0" bIns="0" anchor="t"/>
          <a:lstStyle/>
          <a:p>
            <a:pPr algn="l">
              <a:lnSpc>
                <a:spcPct val="115000"/>
              </a:lnSpc>
            </a:pPr>
            <a:r>
              <a:rPr lang="ja-JP" sz="1950" b="1">
                <a:solidFill>
                  <a:srgbClr val="536B75"/>
                </a:solidFill>
                <a:latin typeface="YuGothic"/>
                <a:ea typeface="YuGothic"/>
                <a:cs typeface="YuGothic"/>
              </a:rPr>
              <a:t>現在の浸水想定</a:t>
            </a:r>
            <a:endParaRPr lang="ja-JP" sz="1950"/>
          </a:p>
        </p:txBody>
      </p:sp>
      <p:sp>
        <p:nvSpPr>
          <p:cNvPr id="4" name="洪水の想定"/>
          <p:cNvSpPr txBox="1"/>
          <p:nvPr/>
        </p:nvSpPr>
        <p:spPr>
          <a:xfrm>
            <a:off x="609600" y="2552700"/>
            <a:ext cx="10906125" cy="628650"/>
          </a:xfrm>
          <a:prstGeom prst="rect">
            <a:avLst/>
          </a:prstGeom>
          <a:noFill/>
          <a:ln>
            <a:noFill/>
          </a:ln>
        </p:spPr>
        <p:txBody>
          <a:bodyPr wrap="square" lIns="0" tIns="0" rIns="0" bIns="0" anchor="t"/>
          <a:lstStyle/>
          <a:p>
            <a:pPr algn="l">
              <a:lnSpc>
                <a:spcPct val="115000"/>
              </a:lnSpc>
            </a:pPr>
            <a:r>
              <a:rPr lang="ja-JP" sz="2850" b="1">
                <a:solidFill>
                  <a:srgbClr val="253B46"/>
                </a:solidFill>
                <a:latin typeface="YuGothic"/>
                <a:ea typeface="YuGothic"/>
                <a:cs typeface="YuGothic"/>
              </a:rPr>
              <a:t>大規模な洪水で、深い浸水が想定される</a:t>
            </a:r>
            <a:endParaRPr lang="ja-JP" sz="2850"/>
          </a:p>
        </p:txBody>
      </p:sp>
      <p:sp>
        <p:nvSpPr>
          <p:cNvPr id="5" name="存在する住宅地"/>
          <p:cNvSpPr txBox="1"/>
          <p:nvPr/>
        </p:nvSpPr>
        <p:spPr>
          <a:xfrm>
            <a:off x="609600" y="3476625"/>
            <a:ext cx="10906125" cy="381000"/>
          </a:xfrm>
          <a:prstGeom prst="rect">
            <a:avLst/>
          </a:prstGeom>
          <a:noFill/>
          <a:ln>
            <a:noFill/>
          </a:ln>
        </p:spPr>
        <p:txBody>
          <a:bodyPr wrap="square" lIns="0" tIns="0" rIns="0" bIns="0" anchor="t"/>
          <a:lstStyle/>
          <a:p>
            <a:pPr algn="l">
              <a:lnSpc>
                <a:spcPct val="115000"/>
              </a:lnSpc>
            </a:pPr>
            <a:r>
              <a:rPr lang="ja-JP" sz="1950" b="1">
                <a:solidFill>
                  <a:srgbClr val="536B75"/>
                </a:solidFill>
                <a:latin typeface="YuGothic"/>
                <a:ea typeface="YuGothic"/>
                <a:cs typeface="YuGothic"/>
              </a:rPr>
              <a:t>住宅地の歴史</a:t>
            </a:r>
            <a:endParaRPr lang="ja-JP" sz="1950"/>
          </a:p>
        </p:txBody>
      </p:sp>
      <p:sp>
        <p:nvSpPr>
          <p:cNvPr id="6" name="団地の成立と継続"/>
          <p:cNvSpPr txBox="1"/>
          <p:nvPr/>
        </p:nvSpPr>
        <p:spPr>
          <a:xfrm>
            <a:off x="609600" y="3933825"/>
            <a:ext cx="10906125" cy="628650"/>
          </a:xfrm>
          <a:prstGeom prst="rect">
            <a:avLst/>
          </a:prstGeom>
          <a:noFill/>
          <a:ln>
            <a:noFill/>
          </a:ln>
        </p:spPr>
        <p:txBody>
          <a:bodyPr wrap="square" lIns="0" tIns="0" rIns="0" bIns="0" anchor="t"/>
          <a:lstStyle/>
          <a:p>
            <a:pPr algn="l">
              <a:lnSpc>
                <a:spcPct val="115000"/>
              </a:lnSpc>
            </a:pPr>
            <a:r>
              <a:rPr lang="ja-JP" sz="2625" b="1">
                <a:solidFill>
                  <a:srgbClr val="253B46"/>
                </a:solidFill>
                <a:latin typeface="YuGothic"/>
                <a:ea typeface="YuGothic"/>
                <a:cs typeface="YuGothic"/>
              </a:rPr>
              <a:t>そこに大規模な団地が建ち、現在まで続いている</a:t>
            </a:r>
            <a:endParaRPr lang="ja-JP" sz="2625"/>
          </a:p>
        </p:txBody>
      </p:sp>
      <p:sp>
        <p:nvSpPr>
          <p:cNvPr id="7" name="中心となる問い"/>
          <p:cNvSpPr txBox="1"/>
          <p:nvPr/>
        </p:nvSpPr>
        <p:spPr>
          <a:xfrm>
            <a:off x="609600" y="5219700"/>
            <a:ext cx="10906125" cy="714375"/>
          </a:xfrm>
          <a:prstGeom prst="rect">
            <a:avLst/>
          </a:prstGeom>
          <a:noFill/>
          <a:ln>
            <a:noFill/>
          </a:ln>
        </p:spPr>
        <p:txBody>
          <a:bodyPr wrap="square" lIns="0" tIns="0" rIns="0" bIns="0" anchor="t"/>
          <a:lstStyle/>
          <a:p>
            <a:pPr algn="l">
              <a:lnSpc>
                <a:spcPct val="115000"/>
              </a:lnSpc>
            </a:pPr>
            <a:r>
              <a:rPr lang="ja-JP" sz="3225" b="1">
                <a:solidFill>
                  <a:srgbClr val="254D5C"/>
                </a:solidFill>
                <a:latin typeface="YuGothic"/>
                <a:ea typeface="YuGothic"/>
                <a:cs typeface="YuGothic"/>
              </a:rPr>
              <a:t>なぜここに形成され、どう続いてきたのか？</a:t>
            </a:r>
            <a:endParaRPr lang="ja-JP" sz="3225"/>
          </a:p>
        </p:txBody>
      </p:sp>
      <p:sp>
        <p:nvSpPr>
          <p:cNvPr id="8" name="Source"/>
          <p:cNvSpPr txBox="1"/>
          <p:nvPr/>
        </p:nvSpPr>
        <p:spPr>
          <a:xfrm>
            <a:off x="609600" y="6372225"/>
            <a:ext cx="10668000" cy="333375"/>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対象：江東区大島四丁目。形成の理由と、その後の維持更新を調べる</a:t>
            </a:r>
            <a:endParaRPr lang="ja-JP" sz="1200"/>
          </a:p>
        </p:txBody>
      </p:sp>
      <p:sp>
        <p:nvSpPr>
          <p:cNvPr id="9" name="Page"/>
          <p:cNvSpPr txBox="1"/>
          <p:nvPr/>
        </p:nvSpPr>
        <p:spPr>
          <a:xfrm>
            <a:off x="11106150" y="6362700"/>
            <a:ext cx="762000" cy="285750"/>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02 / 11</a:t>
            </a:r>
            <a:endParaRPr lang="ja-JP" sz="1200"/>
          </a:p>
        </p:txBody>
      </p:sp>
      <p:sp>
        <p:nvSpPr>
          <p:cNvPr id="10"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導入</a:t>
            </a:r>
            <a:endParaRPr lang="ja-JP" sz="1650"/>
          </a:p>
        </p:txBody>
      </p:sp>
      <p:sp>
        <p:nvSpPr>
          <p:cNvPr id="11"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1" descr="現在のスライド"/>
          <p:cNvSpPr/>
          <p:nvPr/>
        </p:nvSpPr>
        <p:spPr>
          <a:xfrm>
            <a:off x="1832610" y="581025"/>
            <a:ext cx="114300" cy="114300"/>
          </a:xfrm>
          <a:prstGeom prst="ellipse">
            <a:avLst/>
          </a:prstGeom>
          <a:solidFill>
            <a:srgbClr val="254D5C"/>
          </a:solidFill>
          <a:ln w="14287">
            <a:solidFill>
              <a:srgbClr val="254D5C"/>
            </a:solidFill>
          </a:ln>
        </p:spPr>
        <p:txBody>
          <a:bodyPr/>
          <a:lstStyle/>
          <a:p>
            <a:endParaRPr lang="ja-JP" altLang="en-US"/>
          </a:p>
        </p:txBody>
      </p:sp>
      <p:sp>
        <p:nvSpPr>
          <p:cNvPr id="18"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大島四丁目周辺の居住人口</a:t>
            </a:r>
            <a:endParaRPr lang="ja-JP" sz="3300"/>
          </a:p>
        </p:txBody>
      </p:sp>
      <p:pic>
        <p:nvPicPr>
          <p:cNvPr id="3" name="resas.png" descr="RESASの2020年総人口メッシュ。出典・凡例・縮尺を保持。"/>
          <p:cNvPicPr>
            <a:picLocks noChangeAspect="1"/>
          </p:cNvPicPr>
          <p:nvPr/>
        </p:nvPicPr>
        <p:blipFill>
          <a:blip r:embed="rId3"/>
          <a:stretch>
            <a:fillRect/>
          </a:stretch>
        </p:blipFill>
        <p:spPr>
          <a:xfrm>
            <a:off x="1110234" y="2000250"/>
            <a:ext cx="5256657" cy="4176522"/>
          </a:xfrm>
          <a:prstGeom prst="rect">
            <a:avLst/>
          </a:prstGeom>
        </p:spPr>
      </p:pic>
      <p:sp>
        <p:nvSpPr>
          <p:cNvPr id="4" name="Text 4"/>
          <p:cNvSpPr txBox="1"/>
          <p:nvPr/>
        </p:nvSpPr>
        <p:spPr>
          <a:xfrm>
            <a:off x="7334250" y="2280285"/>
            <a:ext cx="4095750" cy="440055"/>
          </a:xfrm>
          <a:prstGeom prst="rect">
            <a:avLst/>
          </a:prstGeom>
          <a:noFill/>
          <a:ln>
            <a:noFill/>
          </a:ln>
        </p:spPr>
        <p:txBody>
          <a:bodyPr wrap="square" lIns="0" tIns="0" rIns="0" bIns="0" anchor="t"/>
          <a:lstStyle/>
          <a:p>
            <a:pPr algn="l">
              <a:lnSpc>
                <a:spcPct val="125000"/>
              </a:lnSpc>
              <a:spcAft>
                <a:spcPts val="600"/>
              </a:spcAft>
            </a:pPr>
            <a:r>
              <a:rPr lang="ja-JP" sz="2092" b="1">
                <a:solidFill>
                  <a:srgbClr val="253B46"/>
                </a:solidFill>
                <a:latin typeface="YuGothic"/>
                <a:ea typeface="YuGothic"/>
                <a:cs typeface="YuGothic"/>
              </a:rPr>
              <a:t>2020年の人口分布</a:t>
            </a:r>
            <a:endParaRPr lang="ja-JP" sz="2092"/>
          </a:p>
        </p:txBody>
      </p:sp>
      <p:sp>
        <p:nvSpPr>
          <p:cNvPr id="5" name="Text 5"/>
          <p:cNvSpPr txBox="1"/>
          <p:nvPr/>
        </p:nvSpPr>
        <p:spPr>
          <a:xfrm>
            <a:off x="7334250" y="2960370"/>
            <a:ext cx="4095750" cy="1520190"/>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約500mごとの人口を表示</a:t>
            </a:r>
            <a:endParaRPr lang="ja-JP" sz="1890"/>
          </a:p>
          <a:p>
            <a:pPr algn="l">
              <a:lnSpc>
                <a:spcPct val="125000"/>
              </a:lnSpc>
              <a:spcAft>
                <a:spcPts val="600"/>
              </a:spcAft>
            </a:pPr>
            <a:endParaRPr lang="ja-JP" sz="1890"/>
          </a:p>
          <a:p>
            <a:pPr algn="l">
              <a:lnSpc>
                <a:spcPct val="125000"/>
              </a:lnSpc>
              <a:spcAft>
                <a:spcPts val="600"/>
              </a:spcAft>
            </a:pPr>
            <a:r>
              <a:rPr lang="ja-JP" sz="1890" b="0">
                <a:solidFill>
                  <a:srgbClr val="253B46"/>
                </a:solidFill>
                <a:latin typeface="YuGothic"/>
                <a:ea typeface="YuGothic"/>
                <a:cs typeface="YuGothic"/>
              </a:rPr>
              <a:t>町丁目・団地の境界とは</a:t>
            </a:r>
            <a:endParaRPr lang="ja-JP" sz="1890"/>
          </a:p>
          <a:p>
            <a:pPr algn="l">
              <a:lnSpc>
                <a:spcPct val="125000"/>
              </a:lnSpc>
              <a:spcAft>
                <a:spcPts val="600"/>
              </a:spcAft>
            </a:pPr>
            <a:r>
              <a:rPr lang="ja-JP" sz="1890" b="0">
                <a:solidFill>
                  <a:srgbClr val="253B46"/>
                </a:solidFill>
                <a:latin typeface="YuGothic"/>
                <a:ea typeface="YuGothic"/>
                <a:cs typeface="YuGothic"/>
              </a:rPr>
              <a:t>一致しない</a:t>
            </a:r>
            <a:endParaRPr lang="ja-JP" sz="1890"/>
          </a:p>
        </p:txBody>
      </p:sp>
      <p:sp>
        <p:nvSpPr>
          <p:cNvPr id="6" name="Text 6"/>
          <p:cNvSpPr txBox="1"/>
          <p:nvPr/>
        </p:nvSpPr>
        <p:spPr>
          <a:xfrm>
            <a:off x="7334250" y="4960620"/>
            <a:ext cx="4095750" cy="800100"/>
          </a:xfrm>
          <a:prstGeom prst="rect">
            <a:avLst/>
          </a:prstGeom>
          <a:noFill/>
          <a:ln>
            <a:noFill/>
          </a:ln>
        </p:spPr>
        <p:txBody>
          <a:bodyPr wrap="square" lIns="0" tIns="0" rIns="0" bIns="0" anchor="t"/>
          <a:lstStyle/>
          <a:p>
            <a:pPr algn="l">
              <a:lnSpc>
                <a:spcPct val="125000"/>
              </a:lnSpc>
              <a:spcAft>
                <a:spcPts val="600"/>
              </a:spcAft>
            </a:pPr>
            <a:r>
              <a:rPr lang="ja-JP" sz="1688" b="0">
                <a:solidFill>
                  <a:srgbClr val="536B75"/>
                </a:solidFill>
                <a:latin typeface="YuGothic"/>
                <a:ea typeface="YuGothic"/>
                <a:cs typeface="YuGothic"/>
              </a:rPr>
              <a:t>この図は、位置と居住の</a:t>
            </a:r>
            <a:endParaRPr lang="ja-JP" sz="1688"/>
          </a:p>
          <a:p>
            <a:pPr algn="l">
              <a:lnSpc>
                <a:spcPct val="125000"/>
              </a:lnSpc>
              <a:spcAft>
                <a:spcPts val="600"/>
              </a:spcAft>
            </a:pPr>
            <a:r>
              <a:rPr lang="ja-JP" sz="1688" b="0">
                <a:solidFill>
                  <a:srgbClr val="536B75"/>
                </a:solidFill>
                <a:latin typeface="YuGothic"/>
                <a:ea typeface="YuGothic"/>
                <a:cs typeface="YuGothic"/>
              </a:rPr>
              <a:t>存在を確認する補助資料</a:t>
            </a:r>
            <a:endParaRPr lang="ja-JP" sz="1688"/>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R7 RESAS／総務省・国勢調査に関する地域メッシュ統計　背景：地理院タイル</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03 / 11</a:t>
            </a:r>
            <a:endParaRPr lang="ja-JP" sz="1200"/>
          </a:p>
        </p:txBody>
      </p:sp>
      <p:sp>
        <p:nvSpPr>
          <p:cNvPr id="9"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現状</a:t>
            </a:r>
            <a:endParaRPr lang="ja-JP" sz="1650"/>
          </a:p>
        </p:txBody>
      </p:sp>
      <p:sp>
        <p:nvSpPr>
          <p:cNvPr id="11"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1" descr="現在のスライド"/>
          <p:cNvSpPr/>
          <p:nvPr/>
        </p:nvSpPr>
        <p:spPr>
          <a:xfrm>
            <a:off x="2884170" y="581025"/>
            <a:ext cx="114300" cy="114300"/>
          </a:xfrm>
          <a:prstGeom prst="ellipse">
            <a:avLst/>
          </a:prstGeom>
          <a:solidFill>
            <a:srgbClr val="254D5C"/>
          </a:solidFill>
          <a:ln w="14287">
            <a:solidFill>
              <a:srgbClr val="254D5C"/>
            </a:solidFill>
          </a:ln>
        </p:spPr>
        <p:txBody>
          <a:bodyPr/>
          <a:lstStyle/>
          <a:p>
            <a:endParaRPr lang="ja-JP" altLang="en-US"/>
          </a:p>
        </p:txBody>
      </p:sp>
      <p:sp>
        <p:nvSpPr>
          <p:cNvPr id="18"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洪水浸水想定と住宅地の位置</a:t>
            </a:r>
            <a:endParaRPr lang="ja-JP" sz="3300"/>
          </a:p>
        </p:txBody>
      </p:sp>
      <p:pic>
        <p:nvPicPr>
          <p:cNvPr id="3" name="flood_block.png" descr="大島四丁目エリアの洪水想定。2025年版図、凡例と出典付き。"/>
          <p:cNvPicPr>
            <a:picLocks noChangeAspect="1"/>
          </p:cNvPicPr>
          <p:nvPr/>
        </p:nvPicPr>
        <p:blipFill>
          <a:blip r:embed="rId3"/>
          <a:srcRect t="4000"/>
          <a:stretch>
            <a:fillRect/>
          </a:stretch>
        </p:blipFill>
        <p:spPr>
          <a:xfrm>
            <a:off x="921639" y="2126986"/>
            <a:ext cx="3176397" cy="4001780"/>
          </a:xfrm>
          <a:prstGeom prst="rect">
            <a:avLst/>
          </a:prstGeom>
        </p:spPr>
      </p:pic>
      <p:sp>
        <p:nvSpPr>
          <p:cNvPr id="4" name="Text 4"/>
          <p:cNvSpPr txBox="1"/>
          <p:nvPr/>
        </p:nvSpPr>
        <p:spPr>
          <a:xfrm>
            <a:off x="4972050" y="2168271"/>
            <a:ext cx="6429375" cy="480060"/>
          </a:xfrm>
          <a:prstGeom prst="rect">
            <a:avLst/>
          </a:prstGeom>
          <a:noFill/>
          <a:ln>
            <a:noFill/>
          </a:ln>
        </p:spPr>
        <p:txBody>
          <a:bodyPr wrap="square" lIns="0" tIns="0" rIns="0" bIns="0" anchor="t"/>
          <a:lstStyle/>
          <a:p>
            <a:pPr algn="l">
              <a:lnSpc>
                <a:spcPct val="125000"/>
              </a:lnSpc>
              <a:spcAft>
                <a:spcPts val="600"/>
              </a:spcAft>
            </a:pPr>
            <a:r>
              <a:rPr lang="ja-JP" sz="2160" b="1">
                <a:solidFill>
                  <a:srgbClr val="253B46"/>
                </a:solidFill>
                <a:latin typeface="YuGothic"/>
                <a:ea typeface="YuGothic"/>
                <a:cs typeface="YuGothic"/>
              </a:rPr>
              <a:t>荒川の堤防が決壊する想定</a:t>
            </a:r>
            <a:endParaRPr lang="ja-JP" sz="2160"/>
          </a:p>
        </p:txBody>
      </p:sp>
      <p:sp>
        <p:nvSpPr>
          <p:cNvPr id="5" name="Text 5"/>
          <p:cNvSpPr txBox="1"/>
          <p:nvPr/>
        </p:nvSpPr>
        <p:spPr>
          <a:xfrm>
            <a:off x="4972050" y="2960370"/>
            <a:ext cx="6429375" cy="960120"/>
          </a:xfrm>
          <a:prstGeom prst="rect">
            <a:avLst/>
          </a:prstGeom>
          <a:noFill/>
          <a:ln>
            <a:noFill/>
          </a:ln>
        </p:spPr>
        <p:txBody>
          <a:bodyPr wrap="square" lIns="0" tIns="0" rIns="0" bIns="0" anchor="t"/>
          <a:lstStyle/>
          <a:p>
            <a:pPr algn="l">
              <a:lnSpc>
                <a:spcPct val="125000"/>
              </a:lnSpc>
              <a:spcAft>
                <a:spcPts val="600"/>
              </a:spcAft>
            </a:pPr>
            <a:r>
              <a:rPr lang="ja-JP" sz="2160" b="0">
                <a:solidFill>
                  <a:srgbClr val="253B46"/>
                </a:solidFill>
                <a:latin typeface="YuGothic"/>
                <a:ea typeface="YuGothic"/>
                <a:cs typeface="YuGothic"/>
              </a:rPr>
              <a:t>エリア大半で3〜5mの浸水</a:t>
            </a:r>
            <a:endParaRPr lang="ja-JP" sz="2160"/>
          </a:p>
          <a:p>
            <a:pPr algn="l">
              <a:lnSpc>
                <a:spcPct val="125000"/>
              </a:lnSpc>
              <a:spcAft>
                <a:spcPts val="600"/>
              </a:spcAft>
            </a:pPr>
            <a:r>
              <a:rPr lang="ja-JP" sz="2160" b="0">
                <a:solidFill>
                  <a:srgbClr val="253B46"/>
                </a:solidFill>
                <a:latin typeface="YuGothic"/>
                <a:ea typeface="YuGothic"/>
                <a:cs typeface="YuGothic"/>
              </a:rPr>
              <a:t>継続時間は2週間以上</a:t>
            </a:r>
            <a:endParaRPr lang="ja-JP" sz="2160"/>
          </a:p>
        </p:txBody>
      </p:sp>
      <p:sp>
        <p:nvSpPr>
          <p:cNvPr id="6" name="Text 6"/>
          <p:cNvSpPr txBox="1"/>
          <p:nvPr/>
        </p:nvSpPr>
        <p:spPr>
          <a:xfrm>
            <a:off x="4972050" y="4312539"/>
            <a:ext cx="6429375" cy="920115"/>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団地は周囲より地盤が高く、</a:t>
            </a:r>
            <a:endParaRPr lang="ja-JP" sz="1890"/>
          </a:p>
          <a:p>
            <a:pPr algn="l">
              <a:lnSpc>
                <a:spcPct val="125000"/>
              </a:lnSpc>
              <a:spcAft>
                <a:spcPts val="600"/>
              </a:spcAft>
            </a:pPr>
            <a:r>
              <a:rPr lang="ja-JP" sz="1890" b="0">
                <a:solidFill>
                  <a:srgbClr val="253B46"/>
                </a:solidFill>
                <a:latin typeface="YuGothic"/>
                <a:ea typeface="YuGothic"/>
                <a:cs typeface="YuGothic"/>
              </a:rPr>
              <a:t>想定浸水深は周囲より小さい</a:t>
            </a:r>
            <a:endParaRPr lang="ja-JP" sz="1890"/>
          </a:p>
        </p:txBody>
      </p:sp>
      <p:sp>
        <p:nvSpPr>
          <p:cNvPr id="7" name="Text 7"/>
          <p:cNvSpPr txBox="1"/>
          <p:nvPr/>
        </p:nvSpPr>
        <p:spPr>
          <a:xfrm>
            <a:off x="4972050" y="5584698"/>
            <a:ext cx="6429375" cy="360045"/>
          </a:xfrm>
          <a:prstGeom prst="rect">
            <a:avLst/>
          </a:prstGeom>
          <a:noFill/>
          <a:ln>
            <a:noFill/>
          </a:ln>
        </p:spPr>
        <p:txBody>
          <a:bodyPr wrap="square" lIns="0" tIns="0" rIns="0" bIns="0" anchor="t"/>
          <a:lstStyle/>
          <a:p>
            <a:pPr algn="l">
              <a:lnSpc>
                <a:spcPct val="125000"/>
              </a:lnSpc>
              <a:spcAft>
                <a:spcPts val="600"/>
              </a:spcAft>
            </a:pPr>
            <a:r>
              <a:rPr lang="ja-JP" sz="1485" b="0">
                <a:solidFill>
                  <a:srgbClr val="536B75"/>
                </a:solidFill>
                <a:latin typeface="YuGothic"/>
                <a:ea typeface="YuGothic"/>
                <a:cs typeface="YuGothic"/>
              </a:rPr>
              <a:t>全地点・全住宅が同じ深さになる図ではない</a:t>
            </a:r>
            <a:endParaRPr lang="ja-JP" sz="1485"/>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p.30（2025年図の洪水欄を抜粋）　現行版は2026年改訂</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04 / 11</a:t>
            </a:r>
            <a:endParaRPr lang="ja-JP" sz="1200"/>
          </a:p>
        </p:txBody>
      </p:sp>
      <p:sp>
        <p:nvSpPr>
          <p:cNvPr id="10"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現状</a:t>
            </a:r>
            <a:endParaRPr lang="ja-JP" sz="1650"/>
          </a:p>
        </p:txBody>
      </p:sp>
      <p:sp>
        <p:nvSpPr>
          <p:cNvPr id="12"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1" descr="現在のスライド"/>
          <p:cNvSpPr/>
          <p:nvPr/>
        </p:nvSpPr>
        <p:spPr>
          <a:xfrm>
            <a:off x="393573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0"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工場跡地で、住宅供給と環境改善を図った</a:t>
            </a:r>
            <a:endParaRPr lang="ja-JP" sz="3300"/>
          </a:p>
        </p:txBody>
      </p:sp>
      <p:sp>
        <p:nvSpPr>
          <p:cNvPr id="3" name="Text 3"/>
          <p:cNvSpPr txBox="1"/>
          <p:nvPr/>
        </p:nvSpPr>
        <p:spPr>
          <a:xfrm>
            <a:off x="609600" y="2208276"/>
            <a:ext cx="5095875" cy="840105"/>
          </a:xfrm>
          <a:prstGeom prst="rect">
            <a:avLst/>
          </a:prstGeom>
          <a:noFill/>
          <a:ln>
            <a:noFill/>
          </a:ln>
        </p:spPr>
        <p:txBody>
          <a:bodyPr wrap="square" lIns="0" tIns="0" rIns="0" bIns="0" anchor="t"/>
          <a:lstStyle/>
          <a:p>
            <a:pPr algn="l">
              <a:lnSpc>
                <a:spcPct val="125000"/>
              </a:lnSpc>
              <a:spcAft>
                <a:spcPts val="600"/>
              </a:spcAft>
            </a:pPr>
            <a:r>
              <a:rPr lang="ja-JP" sz="2295" b="1">
                <a:solidFill>
                  <a:srgbClr val="253B46"/>
                </a:solidFill>
                <a:latin typeface="YuGothic"/>
                <a:ea typeface="YuGothic"/>
                <a:cs typeface="YuGothic"/>
              </a:rPr>
              <a:t>大都市への人口流入で</a:t>
            </a:r>
            <a:endParaRPr lang="ja-JP" sz="2295"/>
          </a:p>
          <a:p>
            <a:pPr algn="l">
              <a:lnSpc>
                <a:spcPct val="125000"/>
              </a:lnSpc>
              <a:spcAft>
                <a:spcPts val="600"/>
              </a:spcAft>
            </a:pPr>
            <a:r>
              <a:rPr lang="ja-JP" sz="2295" b="1">
                <a:solidFill>
                  <a:srgbClr val="253B46"/>
                </a:solidFill>
                <a:latin typeface="YuGothic"/>
                <a:ea typeface="YuGothic"/>
                <a:cs typeface="YuGothic"/>
              </a:rPr>
              <a:t>住宅が不足</a:t>
            </a:r>
            <a:endParaRPr lang="ja-JP" sz="2295"/>
          </a:p>
        </p:txBody>
      </p:sp>
      <p:sp>
        <p:nvSpPr>
          <p:cNvPr id="4" name="Text 4"/>
          <p:cNvSpPr txBox="1"/>
          <p:nvPr/>
        </p:nvSpPr>
        <p:spPr>
          <a:xfrm>
            <a:off x="609600" y="3440430"/>
            <a:ext cx="5095875" cy="184023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移転した大規模工場の土地を活用</a:t>
            </a:r>
            <a:endParaRPr lang="ja-JP" sz="1958"/>
          </a:p>
          <a:p>
            <a:pPr algn="l">
              <a:lnSpc>
                <a:spcPct val="125000"/>
              </a:lnSpc>
              <a:spcAft>
                <a:spcPts val="600"/>
              </a:spcAft>
            </a:pPr>
            <a:endParaRPr lang="ja-JP" sz="1958"/>
          </a:p>
          <a:p>
            <a:pPr algn="l">
              <a:lnSpc>
                <a:spcPct val="125000"/>
              </a:lnSpc>
              <a:spcAft>
                <a:spcPts val="600"/>
              </a:spcAft>
            </a:pPr>
            <a:r>
              <a:rPr lang="ja-JP" sz="1958" b="0">
                <a:solidFill>
                  <a:srgbClr val="253B46"/>
                </a:solidFill>
                <a:latin typeface="YuGothic"/>
                <a:ea typeface="YuGothic"/>
                <a:cs typeface="YuGothic"/>
              </a:rPr>
              <a:t>住宅を供給し、緑地や</a:t>
            </a:r>
            <a:endParaRPr lang="ja-JP" sz="1958"/>
          </a:p>
          <a:p>
            <a:pPr algn="l">
              <a:lnSpc>
                <a:spcPct val="125000"/>
              </a:lnSpc>
              <a:spcAft>
                <a:spcPts val="600"/>
              </a:spcAft>
            </a:pPr>
            <a:r>
              <a:rPr lang="ja-JP" sz="1958" b="0">
                <a:solidFill>
                  <a:srgbClr val="253B46"/>
                </a:solidFill>
                <a:latin typeface="YuGothic"/>
                <a:ea typeface="YuGothic"/>
                <a:cs typeface="YuGothic"/>
              </a:rPr>
              <a:t>遊び場・避難空間を整備</a:t>
            </a:r>
            <a:endParaRPr lang="ja-JP" sz="1958"/>
          </a:p>
        </p:txBody>
      </p:sp>
      <p:pic>
        <p:nvPicPr>
          <p:cNvPr id="5" name="housing.png" descr="国土交通省掲載資料内の大島四丁目団地外観写真の抜粋。"/>
          <p:cNvPicPr>
            <a:picLocks noChangeAspect="1"/>
          </p:cNvPicPr>
          <p:nvPr/>
        </p:nvPicPr>
        <p:blipFill>
          <a:blip r:embed="rId3"/>
          <a:stretch>
            <a:fillRect/>
          </a:stretch>
        </p:blipFill>
        <p:spPr>
          <a:xfrm>
            <a:off x="6553962" y="2496312"/>
            <a:ext cx="4608576" cy="2928366"/>
          </a:xfrm>
          <a:prstGeom prst="rect">
            <a:avLst/>
          </a:prstGeom>
        </p:spPr>
      </p:pic>
      <p:sp>
        <p:nvSpPr>
          <p:cNvPr id="6" name="Text 6"/>
          <p:cNvSpPr txBox="1"/>
          <p:nvPr/>
        </p:nvSpPr>
        <p:spPr>
          <a:xfrm>
            <a:off x="609600" y="5624703"/>
            <a:ext cx="10858500" cy="384048"/>
          </a:xfrm>
          <a:prstGeom prst="rect">
            <a:avLst/>
          </a:prstGeom>
          <a:noFill/>
          <a:ln>
            <a:noFill/>
          </a:ln>
        </p:spPr>
        <p:txBody>
          <a:bodyPr wrap="square" lIns="0" tIns="0" rIns="0" bIns="0" anchor="t"/>
          <a:lstStyle/>
          <a:p>
            <a:pPr algn="l">
              <a:lnSpc>
                <a:spcPct val="125000"/>
              </a:lnSpc>
              <a:spcAft>
                <a:spcPts val="600"/>
              </a:spcAft>
            </a:pPr>
            <a:r>
              <a:rPr lang="ja-JP" sz="1755" b="0">
                <a:solidFill>
                  <a:srgbClr val="536B75"/>
                </a:solidFill>
                <a:latin typeface="YuGothic"/>
                <a:ea typeface="YuGothic"/>
                <a:cs typeface="YuGothic"/>
              </a:rPr>
              <a:t>当該団地の建設目的を説明する直接資料がある</a:t>
            </a:r>
            <a:endParaRPr lang="ja-JP" sz="1755"/>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R1 国土交通省掲載・大島四丁目団地説明資料 PDF2ページ　写真の撮影年月日未確認</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05 / 11</a:t>
            </a:r>
            <a:endParaRPr lang="ja-JP" sz="1200"/>
          </a:p>
        </p:txBody>
      </p:sp>
      <p:sp>
        <p:nvSpPr>
          <p:cNvPr id="9"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形成</a:t>
            </a:r>
            <a:endParaRPr lang="ja-JP" sz="1650"/>
          </a:p>
        </p:txBody>
      </p:sp>
      <p:sp>
        <p:nvSpPr>
          <p:cNvPr id="12"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1" descr="現在のスライド"/>
          <p:cNvSpPr/>
          <p:nvPr/>
        </p:nvSpPr>
        <p:spPr>
          <a:xfrm>
            <a:off x="498729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0"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住宅地化と治水整備の時間的関係</a:t>
            </a:r>
            <a:endParaRPr lang="ja-JP" sz="3300"/>
          </a:p>
        </p:txBody>
      </p:sp>
      <p:graphicFrame>
        <p:nvGraphicFramePr>
          <p:cNvPr id="3" name="年表"/>
          <p:cNvGraphicFramePr/>
          <p:nvPr/>
        </p:nvGraphicFramePr>
        <p:xfrm>
          <a:off x="609600" y="2064258"/>
          <a:ext cx="10953750" cy="3120390"/>
        </p:xfrm>
        <a:graphic>
          <a:graphicData uri="http://schemas.openxmlformats.org/drawingml/2006/table">
            <a:tbl>
              <a:tblPr firstRow="1"/>
              <a:tblGrid>
                <a:gridCol w="2190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24078">
                <a:tc>
                  <a:txBody>
                    <a:bodyPr/>
                    <a:lstStyle/>
                    <a:p>
                      <a:pPr algn="l">
                        <a:lnSpc>
                          <a:spcPct val="125000"/>
                        </a:lnSpc>
                        <a:spcAft>
                          <a:spcPts val="600"/>
                        </a:spcAft>
                      </a:pPr>
                      <a:r>
                        <a:rPr lang="ja-JP" sz="1620" b="1">
                          <a:solidFill>
                            <a:srgbClr val="FFFFFF"/>
                          </a:solidFill>
                          <a:latin typeface="YuGothic"/>
                          <a:ea typeface="YuGothic"/>
                          <a:cs typeface="YuGothic"/>
                        </a:rPr>
                        <a:t>時期</a:t>
                      </a:r>
                      <a:endParaRPr lang="ja-JP" sz="1620"/>
                    </a:p>
                  </a:txBody>
                  <a:tcPr marL="133350" marR="133350" marT="76200" marB="47625">
                    <a:solidFill>
                      <a:srgbClr val="254D5C"/>
                    </a:solidFill>
                  </a:tcPr>
                </a:tc>
                <a:tc>
                  <a:txBody>
                    <a:bodyPr/>
                    <a:lstStyle/>
                    <a:p>
                      <a:pPr algn="l">
                        <a:lnSpc>
                          <a:spcPct val="125000"/>
                        </a:lnSpc>
                        <a:spcAft>
                          <a:spcPts val="600"/>
                        </a:spcAft>
                      </a:pPr>
                      <a:r>
                        <a:rPr lang="ja-JP" sz="1620" b="1">
                          <a:solidFill>
                            <a:srgbClr val="FFFFFF"/>
                          </a:solidFill>
                          <a:latin typeface="YuGothic"/>
                          <a:ea typeface="YuGothic"/>
                          <a:cs typeface="YuGothic"/>
                        </a:rPr>
                        <a:t>地域の整備</a:t>
                      </a:r>
                      <a:endParaRPr lang="ja-JP" sz="1620"/>
                    </a:p>
                  </a:txBody>
                  <a:tcPr marL="133350" marR="133350" marT="76200" marB="47625">
                    <a:solidFill>
                      <a:srgbClr val="254D5C"/>
                    </a:solidFill>
                  </a:tcPr>
                </a:tc>
                <a:tc>
                  <a:txBody>
                    <a:bodyPr/>
                    <a:lstStyle/>
                    <a:p>
                      <a:pPr algn="l">
                        <a:lnSpc>
                          <a:spcPct val="125000"/>
                        </a:lnSpc>
                        <a:spcAft>
                          <a:spcPts val="600"/>
                        </a:spcAft>
                      </a:pPr>
                      <a:r>
                        <a:rPr lang="ja-JP" sz="1620" b="1">
                          <a:solidFill>
                            <a:srgbClr val="FFFFFF"/>
                          </a:solidFill>
                          <a:latin typeface="YuGothic"/>
                          <a:ea typeface="YuGothic"/>
                          <a:cs typeface="YuGothic"/>
                        </a:rPr>
                        <a:t>住宅地の形成・生活基盤</a:t>
                      </a:r>
                      <a:endParaRPr lang="ja-JP" sz="1620"/>
                    </a:p>
                  </a:txBody>
                  <a:tcPr marL="133350" marR="133350" marT="76200" marB="47625">
                    <a:solidFill>
                      <a:srgbClr val="254D5C"/>
                    </a:solidFill>
                  </a:tcPr>
                </a:tc>
                <a:extLst>
                  <a:ext uri="{0D108BD9-81ED-4DB2-BD59-A6C34878D82A}">
                    <a16:rowId xmlns:a16="http://schemas.microsoft.com/office/drawing/2014/main" val="10000"/>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1963年</a:t>
                      </a:r>
                      <a:endParaRPr lang="ja-JP" sz="1755"/>
                    </a:p>
                  </a:txBody>
                  <a:tcPr marL="133350" marR="133350" marT="76200" marB="47625">
                    <a:solidFill>
                      <a:srgbClr val="F0F4F5"/>
                    </a:solidFill>
                  </a:tcPr>
                </a:tc>
                <a:tc>
                  <a:txBody>
                    <a:bodyPr/>
                    <a:lstStyle/>
                    <a:p>
                      <a:pPr algn="l">
                        <a:lnSpc>
                          <a:spcPct val="125000"/>
                        </a:lnSpc>
                        <a:spcAft>
                          <a:spcPts val="600"/>
                        </a:spcAft>
                      </a:pPr>
                      <a:r>
                        <a:rPr lang="ja-JP" sz="1755" b="0">
                          <a:solidFill>
                            <a:srgbClr val="253B46"/>
                          </a:solidFill>
                          <a:latin typeface="YuGothic"/>
                          <a:ea typeface="YuGothic"/>
                          <a:cs typeface="YuGothic"/>
                        </a:rPr>
                        <a:t>辰巳・砂町水門が完成</a:t>
                      </a:r>
                      <a:endParaRPr lang="ja-JP" sz="1755"/>
                    </a:p>
                  </a:txBody>
                  <a:tcPr marL="133350" marR="133350" marT="76200" marB="47625">
                    <a:solidFill>
                      <a:srgbClr val="F0F4F5"/>
                    </a:solidFill>
                  </a:tcPr>
                </a:tc>
                <a:tc>
                  <a:txBody>
                    <a:bodyPr/>
                    <a:lstStyle/>
                    <a:p>
                      <a:pPr algn="l">
                        <a:lnSpc>
                          <a:spcPct val="125000"/>
                        </a:lnSpc>
                        <a:spcAft>
                          <a:spcPts val="600"/>
                        </a:spcAft>
                      </a:pPr>
                      <a:endParaRPr lang="ja-JP" sz="1755"/>
                    </a:p>
                  </a:txBody>
                  <a:tcPr marL="133350" marR="133350" marT="76200" marB="47625">
                    <a:solidFill>
                      <a:srgbClr val="F0F4F5"/>
                    </a:solidFill>
                  </a:tcPr>
                </a:tc>
                <a:extLst>
                  <a:ext uri="{0D108BD9-81ED-4DB2-BD59-A6C34878D82A}">
                    <a16:rowId xmlns:a16="http://schemas.microsoft.com/office/drawing/2014/main" val="10001"/>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1966年</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外郭堤防が完成</a:t>
                      </a:r>
                      <a:endParaRPr lang="ja-JP" sz="1755"/>
                    </a:p>
                  </a:txBody>
                  <a:tcPr marL="133350" marR="133350" marT="76200" marB="47625">
                    <a:solidFill>
                      <a:srgbClr val="FFFFFF"/>
                    </a:solidFill>
                  </a:tcPr>
                </a:tc>
                <a:tc>
                  <a:txBody>
                    <a:bodyPr/>
                    <a:lstStyle/>
                    <a:p>
                      <a:pPr algn="l">
                        <a:lnSpc>
                          <a:spcPct val="125000"/>
                        </a:lnSpc>
                        <a:spcAft>
                          <a:spcPts val="600"/>
                        </a:spcAft>
                      </a:pPr>
                      <a:endParaRPr lang="ja-JP" sz="1755"/>
                    </a:p>
                  </a:txBody>
                  <a:tcPr marL="133350" marR="133350" marT="76200" marB="47625">
                    <a:solidFill>
                      <a:srgbClr val="FFFFFF"/>
                    </a:solidFill>
                  </a:tcPr>
                </a:tc>
                <a:extLst>
                  <a:ext uri="{0D108BD9-81ED-4DB2-BD59-A6C34878D82A}">
                    <a16:rowId xmlns:a16="http://schemas.microsoft.com/office/drawing/2014/main" val="10002"/>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1960年代後半</a:t>
                      </a:r>
                      <a:endParaRPr lang="ja-JP" sz="1755"/>
                    </a:p>
                  </a:txBody>
                  <a:tcPr marL="133350" marR="133350" marT="76200" marB="47625">
                    <a:solidFill>
                      <a:srgbClr val="F0F4F5"/>
                    </a:solidFill>
                  </a:tcPr>
                </a:tc>
                <a:tc>
                  <a:txBody>
                    <a:bodyPr/>
                    <a:lstStyle/>
                    <a:p>
                      <a:pPr algn="l">
                        <a:lnSpc>
                          <a:spcPct val="125000"/>
                        </a:lnSpc>
                        <a:spcAft>
                          <a:spcPts val="600"/>
                        </a:spcAft>
                      </a:pPr>
                      <a:endParaRPr lang="ja-JP" sz="1755"/>
                    </a:p>
                  </a:txBody>
                  <a:tcPr marL="133350" marR="133350" marT="76200" marB="47625">
                    <a:solidFill>
                      <a:srgbClr val="F0F4F5"/>
                    </a:solidFill>
                  </a:tcPr>
                </a:tc>
                <a:tc>
                  <a:txBody>
                    <a:bodyPr/>
                    <a:lstStyle/>
                    <a:p>
                      <a:pPr algn="l">
                        <a:lnSpc>
                          <a:spcPct val="125000"/>
                        </a:lnSpc>
                        <a:spcAft>
                          <a:spcPts val="600"/>
                        </a:spcAft>
                      </a:pPr>
                      <a:r>
                        <a:rPr lang="ja-JP" sz="1755" b="0">
                          <a:solidFill>
                            <a:srgbClr val="253B46"/>
                          </a:solidFill>
                          <a:latin typeface="YuGothic"/>
                          <a:ea typeface="YuGothic"/>
                          <a:cs typeface="YuGothic"/>
                        </a:rPr>
                        <a:t>大島四丁目団地が成立</a:t>
                      </a:r>
                      <a:endParaRPr lang="ja-JP" sz="1755"/>
                    </a:p>
                  </a:txBody>
                  <a:tcPr marL="133350" marR="133350" marT="76200" marB="47625">
                    <a:solidFill>
                      <a:srgbClr val="F0F4F5"/>
                    </a:solidFill>
                  </a:tcPr>
                </a:tc>
                <a:extLst>
                  <a:ext uri="{0D108BD9-81ED-4DB2-BD59-A6C34878D82A}">
                    <a16:rowId xmlns:a16="http://schemas.microsoft.com/office/drawing/2014/main" val="10003"/>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1978年</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扇橋閘門が完成</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西大島駅が開業</a:t>
                      </a:r>
                      <a:endParaRPr lang="ja-JP" sz="1755"/>
                    </a:p>
                  </a:txBody>
                  <a:tcPr marL="133350" marR="133350" marT="76200" marB="47625">
                    <a:solidFill>
                      <a:srgbClr val="FFFFFF"/>
                    </a:solidFill>
                  </a:tcPr>
                </a:tc>
                <a:extLst>
                  <a:ext uri="{0D108BD9-81ED-4DB2-BD59-A6C34878D82A}">
                    <a16:rowId xmlns:a16="http://schemas.microsoft.com/office/drawing/2014/main" val="10004"/>
                  </a:ext>
                </a:extLst>
              </a:tr>
            </a:tbl>
          </a:graphicData>
        </a:graphic>
      </p:graphicFrame>
      <p:sp>
        <p:nvSpPr>
          <p:cNvPr id="4" name="Text 4"/>
          <p:cNvSpPr txBox="1"/>
          <p:nvPr/>
        </p:nvSpPr>
        <p:spPr>
          <a:xfrm>
            <a:off x="609600" y="5544693"/>
            <a:ext cx="10953750" cy="440055"/>
          </a:xfrm>
          <a:prstGeom prst="rect">
            <a:avLst/>
          </a:prstGeom>
          <a:noFill/>
          <a:ln>
            <a:noFill/>
          </a:ln>
        </p:spPr>
        <p:txBody>
          <a:bodyPr wrap="square" lIns="0" tIns="0" rIns="0" bIns="0" anchor="t"/>
          <a:lstStyle/>
          <a:p>
            <a:pPr algn="l">
              <a:lnSpc>
                <a:spcPct val="125000"/>
              </a:lnSpc>
              <a:spcAft>
                <a:spcPts val="600"/>
              </a:spcAft>
            </a:pPr>
            <a:r>
              <a:rPr lang="ja-JP" sz="1822" b="1">
                <a:solidFill>
                  <a:srgbClr val="536B75"/>
                </a:solidFill>
                <a:latin typeface="YuGothic"/>
                <a:ea typeface="YuGothic"/>
                <a:cs typeface="YuGothic"/>
              </a:rPr>
              <a:t>整備は並行して進んだ。建設決定との直接の因果は未確認。</a:t>
            </a:r>
            <a:endParaRPr lang="ja-JP" sz="1822"/>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pp.5〜6 をもとに作成　地域施設と団地を区別</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06 / 11</a:t>
            </a:r>
            <a:endParaRPr lang="ja-JP" sz="1200"/>
          </a:p>
        </p:txBody>
      </p:sp>
      <p:sp>
        <p:nvSpPr>
          <p:cNvPr id="7"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8"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形成</a:t>
            </a:r>
            <a:endParaRPr lang="ja-JP" sz="1650"/>
          </a:p>
        </p:txBody>
      </p:sp>
      <p:sp>
        <p:nvSpPr>
          <p:cNvPr id="10"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3"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4"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1" descr="現在のスライド"/>
          <p:cNvSpPr/>
          <p:nvPr/>
        </p:nvSpPr>
        <p:spPr>
          <a:xfrm>
            <a:off x="6038850" y="581025"/>
            <a:ext cx="114300" cy="114300"/>
          </a:xfrm>
          <a:prstGeom prst="ellipse">
            <a:avLst/>
          </a:prstGeom>
          <a:solidFill>
            <a:srgbClr val="254D5C"/>
          </a:solidFill>
          <a:ln w="14287">
            <a:solidFill>
              <a:srgbClr val="254D5C"/>
            </a:solidFill>
          </a:ln>
        </p:spPr>
        <p:txBody>
          <a:bodyPr/>
          <a:lstStyle/>
          <a:p>
            <a:endParaRPr lang="ja-JP" altLang="en-US"/>
          </a:p>
        </p:txBody>
      </p:sp>
      <p:sp>
        <p:nvSpPr>
          <p:cNvPr id="19"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既存住宅と屋外環境を改修して利用を継続</a:t>
            </a:r>
            <a:endParaRPr lang="ja-JP" sz="3300"/>
          </a:p>
        </p:txBody>
      </p:sp>
      <p:pic>
        <p:nvPicPr>
          <p:cNvPr id="3" name="courtyard.png" descr="資料内の大島四丁目団地の屋外環境写真。"/>
          <p:cNvPicPr>
            <a:picLocks noChangeAspect="1"/>
          </p:cNvPicPr>
          <p:nvPr/>
        </p:nvPicPr>
        <p:blipFill>
          <a:blip r:embed="rId3"/>
          <a:stretch>
            <a:fillRect/>
          </a:stretch>
        </p:blipFill>
        <p:spPr>
          <a:xfrm>
            <a:off x="1107948" y="2272284"/>
            <a:ext cx="5232654" cy="3592449"/>
          </a:xfrm>
          <a:prstGeom prst="rect">
            <a:avLst/>
          </a:prstGeom>
        </p:spPr>
      </p:pic>
      <p:sp>
        <p:nvSpPr>
          <p:cNvPr id="4" name="Text 4"/>
          <p:cNvSpPr txBox="1"/>
          <p:nvPr/>
        </p:nvSpPr>
        <p:spPr>
          <a:xfrm>
            <a:off x="7334250" y="2344293"/>
            <a:ext cx="4048125" cy="440055"/>
          </a:xfrm>
          <a:prstGeom prst="rect">
            <a:avLst/>
          </a:prstGeom>
          <a:noFill/>
          <a:ln>
            <a:noFill/>
          </a:ln>
        </p:spPr>
        <p:txBody>
          <a:bodyPr wrap="square" lIns="0" tIns="0" rIns="0" bIns="0" anchor="t"/>
          <a:lstStyle/>
          <a:p>
            <a:pPr algn="l">
              <a:lnSpc>
                <a:spcPct val="125000"/>
              </a:lnSpc>
              <a:spcAft>
                <a:spcPts val="600"/>
              </a:spcAft>
            </a:pPr>
            <a:r>
              <a:rPr lang="ja-JP" sz="2092" b="1">
                <a:solidFill>
                  <a:srgbClr val="253B46"/>
                </a:solidFill>
                <a:latin typeface="YuGothic"/>
                <a:ea typeface="YuGothic"/>
                <a:cs typeface="YuGothic"/>
              </a:rPr>
              <a:t>1998〜2003年度</a:t>
            </a:r>
            <a:endParaRPr lang="ja-JP" sz="2092"/>
          </a:p>
        </p:txBody>
      </p:sp>
      <p:sp>
        <p:nvSpPr>
          <p:cNvPr id="5" name="Text 5"/>
          <p:cNvSpPr txBox="1"/>
          <p:nvPr/>
        </p:nvSpPr>
        <p:spPr>
          <a:xfrm>
            <a:off x="7334250" y="2920365"/>
            <a:ext cx="4048125" cy="440055"/>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屋外環境を整備</a:t>
            </a:r>
            <a:endParaRPr lang="ja-JP" sz="1958"/>
          </a:p>
        </p:txBody>
      </p:sp>
      <p:sp>
        <p:nvSpPr>
          <p:cNvPr id="6" name="Text 6"/>
          <p:cNvSpPr txBox="1"/>
          <p:nvPr/>
        </p:nvSpPr>
        <p:spPr>
          <a:xfrm>
            <a:off x="7334250" y="3936492"/>
            <a:ext cx="4048125" cy="440055"/>
          </a:xfrm>
          <a:prstGeom prst="rect">
            <a:avLst/>
          </a:prstGeom>
          <a:noFill/>
          <a:ln>
            <a:noFill/>
          </a:ln>
        </p:spPr>
        <p:txBody>
          <a:bodyPr wrap="square" lIns="0" tIns="0" rIns="0" bIns="0" anchor="t"/>
          <a:lstStyle/>
          <a:p>
            <a:pPr algn="l">
              <a:lnSpc>
                <a:spcPct val="125000"/>
              </a:lnSpc>
              <a:spcAft>
                <a:spcPts val="600"/>
              </a:spcAft>
            </a:pPr>
            <a:r>
              <a:rPr lang="ja-JP" sz="1822" b="1">
                <a:solidFill>
                  <a:srgbClr val="253B46"/>
                </a:solidFill>
                <a:latin typeface="YuGothic"/>
                <a:ea typeface="YuGothic"/>
                <a:cs typeface="YuGothic"/>
              </a:rPr>
              <a:t>1999年度〜2008年10月</a:t>
            </a:r>
            <a:endParaRPr lang="ja-JP" sz="1822"/>
          </a:p>
        </p:txBody>
      </p:sp>
      <p:sp>
        <p:nvSpPr>
          <p:cNvPr id="7" name="Text 7"/>
          <p:cNvSpPr txBox="1"/>
          <p:nvPr/>
        </p:nvSpPr>
        <p:spPr>
          <a:xfrm>
            <a:off x="7334250" y="4496562"/>
            <a:ext cx="4048125" cy="80010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約800戸をリニューアル</a:t>
            </a:r>
            <a:endParaRPr lang="ja-JP" sz="1958"/>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R1 PDF4・6ページ　数値は当時の実績。写真は同資料の当該団地写真を抜粋</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07 / 11</a:t>
            </a:r>
            <a:endParaRPr lang="ja-JP" sz="1200"/>
          </a:p>
        </p:txBody>
      </p:sp>
      <p:sp>
        <p:nvSpPr>
          <p:cNvPr id="10"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継続</a:t>
            </a:r>
            <a:endParaRPr lang="ja-JP" sz="1650"/>
          </a:p>
        </p:txBody>
      </p:sp>
      <p:sp>
        <p:nvSpPr>
          <p:cNvPr id="14"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1" descr="現在のスライド"/>
          <p:cNvSpPr/>
          <p:nvPr/>
        </p:nvSpPr>
        <p:spPr>
          <a:xfrm>
            <a:off x="709041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3"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建替えに合わせて、浸水対応を強化する方針</a:t>
            </a:r>
            <a:endParaRPr lang="ja-JP" sz="3300"/>
          </a:p>
        </p:txBody>
      </p:sp>
      <p:pic>
        <p:nvPicPr>
          <p:cNvPr id="3" name="future_map.png" descr="将来の浸水対応型拠点エリアの形成を示す江東区の方針図。"/>
          <p:cNvPicPr>
            <a:picLocks noChangeAspect="1"/>
          </p:cNvPicPr>
          <p:nvPr/>
        </p:nvPicPr>
        <p:blipFill>
          <a:blip r:embed="rId3"/>
          <a:stretch>
            <a:fillRect/>
          </a:stretch>
        </p:blipFill>
        <p:spPr>
          <a:xfrm>
            <a:off x="1070610" y="2024253"/>
            <a:ext cx="4840605" cy="4032504"/>
          </a:xfrm>
          <a:prstGeom prst="rect">
            <a:avLst/>
          </a:prstGeom>
        </p:spPr>
      </p:pic>
      <p:sp>
        <p:nvSpPr>
          <p:cNvPr id="4" name="Text 4"/>
          <p:cNvSpPr txBox="1"/>
          <p:nvPr/>
        </p:nvSpPr>
        <p:spPr>
          <a:xfrm>
            <a:off x="6867525" y="2216277"/>
            <a:ext cx="4676775" cy="480060"/>
          </a:xfrm>
          <a:prstGeom prst="rect">
            <a:avLst/>
          </a:prstGeom>
          <a:noFill/>
          <a:ln>
            <a:noFill/>
          </a:ln>
        </p:spPr>
        <p:txBody>
          <a:bodyPr wrap="square" lIns="0" tIns="0" rIns="0" bIns="0" anchor="t"/>
          <a:lstStyle/>
          <a:p>
            <a:pPr algn="l">
              <a:lnSpc>
                <a:spcPct val="125000"/>
              </a:lnSpc>
              <a:spcAft>
                <a:spcPts val="600"/>
              </a:spcAft>
            </a:pPr>
            <a:r>
              <a:rPr lang="ja-JP" sz="2025" b="1">
                <a:solidFill>
                  <a:srgbClr val="253B46"/>
                </a:solidFill>
                <a:latin typeface="YuGothic"/>
                <a:ea typeface="YuGothic"/>
                <a:cs typeface="YuGothic"/>
              </a:rPr>
              <a:t>2025年のまちづくり方針</a:t>
            </a:r>
            <a:endParaRPr lang="ja-JP" sz="2025"/>
          </a:p>
        </p:txBody>
      </p:sp>
      <p:sp>
        <p:nvSpPr>
          <p:cNvPr id="5" name="Text 5"/>
          <p:cNvSpPr txBox="1"/>
          <p:nvPr/>
        </p:nvSpPr>
        <p:spPr>
          <a:xfrm>
            <a:off x="6867525" y="3056382"/>
            <a:ext cx="4676775" cy="1760220"/>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団地の更新を機会に</a:t>
            </a:r>
            <a:endParaRPr lang="ja-JP" sz="1890"/>
          </a:p>
          <a:p>
            <a:pPr algn="l">
              <a:lnSpc>
                <a:spcPct val="125000"/>
              </a:lnSpc>
              <a:spcAft>
                <a:spcPts val="600"/>
              </a:spcAft>
            </a:pPr>
            <a:r>
              <a:rPr lang="ja-JP" sz="1890" b="0">
                <a:solidFill>
                  <a:srgbClr val="253B46"/>
                </a:solidFill>
                <a:latin typeface="YuGothic"/>
                <a:ea typeface="YuGothic"/>
                <a:cs typeface="YuGothic"/>
              </a:rPr>
              <a:t>避難先と生活維持機能を整備</a:t>
            </a:r>
            <a:endParaRPr lang="ja-JP" sz="1890"/>
          </a:p>
          <a:p>
            <a:pPr algn="l">
              <a:lnSpc>
                <a:spcPct val="125000"/>
              </a:lnSpc>
              <a:spcAft>
                <a:spcPts val="600"/>
              </a:spcAft>
            </a:pPr>
            <a:endParaRPr lang="ja-JP" sz="1890"/>
          </a:p>
          <a:p>
            <a:pPr algn="l">
              <a:lnSpc>
                <a:spcPct val="125000"/>
              </a:lnSpc>
              <a:spcAft>
                <a:spcPts val="600"/>
              </a:spcAft>
            </a:pPr>
            <a:r>
              <a:rPr lang="ja-JP" sz="1890" b="0">
                <a:solidFill>
                  <a:srgbClr val="253B46"/>
                </a:solidFill>
                <a:latin typeface="YuGothic"/>
                <a:ea typeface="YuGothic"/>
                <a:cs typeface="YuGothic"/>
              </a:rPr>
              <a:t>周辺の拠点との連携を図る</a:t>
            </a:r>
            <a:endParaRPr lang="ja-JP" sz="1890"/>
          </a:p>
        </p:txBody>
      </p:sp>
      <p:sp>
        <p:nvSpPr>
          <p:cNvPr id="6" name="Text 6"/>
          <p:cNvSpPr txBox="1"/>
          <p:nvPr/>
        </p:nvSpPr>
        <p:spPr>
          <a:xfrm>
            <a:off x="6867525" y="5240655"/>
            <a:ext cx="4676775" cy="752094"/>
          </a:xfrm>
          <a:prstGeom prst="rect">
            <a:avLst/>
          </a:prstGeom>
          <a:noFill/>
          <a:ln>
            <a:noFill/>
          </a:ln>
        </p:spPr>
        <p:txBody>
          <a:bodyPr wrap="square" lIns="0" tIns="0" rIns="0" bIns="0" anchor="t"/>
          <a:lstStyle/>
          <a:p>
            <a:pPr algn="l">
              <a:lnSpc>
                <a:spcPct val="125000"/>
              </a:lnSpc>
              <a:spcAft>
                <a:spcPts val="600"/>
              </a:spcAft>
            </a:pPr>
            <a:r>
              <a:rPr lang="ja-JP" sz="1620" b="0">
                <a:solidFill>
                  <a:srgbClr val="536B75"/>
                </a:solidFill>
                <a:latin typeface="YuGothic"/>
                <a:ea typeface="YuGothic"/>
                <a:cs typeface="YuGothic"/>
              </a:rPr>
              <a:t>図は将来の方針</a:t>
            </a:r>
            <a:endParaRPr lang="ja-JP" sz="1620"/>
          </a:p>
          <a:p>
            <a:pPr algn="l">
              <a:lnSpc>
                <a:spcPct val="125000"/>
              </a:lnSpc>
              <a:spcAft>
                <a:spcPts val="600"/>
              </a:spcAft>
            </a:pPr>
            <a:r>
              <a:rPr lang="ja-JP" sz="1620" b="0">
                <a:solidFill>
                  <a:srgbClr val="536B75"/>
                </a:solidFill>
                <a:latin typeface="YuGothic"/>
                <a:ea typeface="YuGothic"/>
                <a:cs typeface="YuGothic"/>
              </a:rPr>
              <a:t>すべての整備が完成した意味ではない</a:t>
            </a:r>
            <a:endParaRPr lang="ja-JP" sz="1620"/>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p.49／西大島地域まちづくり方針【増補版】をもとに作成した図</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08 / 11</a:t>
            </a:r>
            <a:endParaRPr lang="ja-JP" sz="1200"/>
          </a:p>
        </p:txBody>
      </p:sp>
      <p:sp>
        <p:nvSpPr>
          <p:cNvPr id="9"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継続</a:t>
            </a:r>
            <a:endParaRPr lang="ja-JP" sz="1650"/>
          </a:p>
        </p:txBody>
      </p:sp>
      <p:sp>
        <p:nvSpPr>
          <p:cNvPr id="13"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1" descr="現在のスライド"/>
          <p:cNvSpPr/>
          <p:nvPr/>
        </p:nvSpPr>
        <p:spPr>
          <a:xfrm>
            <a:off x="814197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3"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2925" b="1">
                <a:solidFill>
                  <a:srgbClr val="152E3A"/>
                </a:solidFill>
                <a:latin typeface="YuGothic"/>
                <a:ea typeface="YuGothic"/>
                <a:cs typeface="YuGothic"/>
              </a:rPr>
              <a:t>謎への答え：住宅供給のために形成し、改修を重ねた</a:t>
            </a:r>
            <a:endParaRPr lang="ja-JP" sz="2925"/>
          </a:p>
        </p:txBody>
      </p:sp>
      <p:sp>
        <p:nvSpPr>
          <p:cNvPr id="3" name="Text 3"/>
          <p:cNvSpPr txBox="1"/>
          <p:nvPr/>
        </p:nvSpPr>
        <p:spPr>
          <a:xfrm>
            <a:off x="609600" y="2184273"/>
            <a:ext cx="1714500" cy="440055"/>
          </a:xfrm>
          <a:prstGeom prst="rect">
            <a:avLst/>
          </a:prstGeom>
          <a:noFill/>
          <a:ln>
            <a:noFill/>
          </a:ln>
        </p:spPr>
        <p:txBody>
          <a:bodyPr wrap="square" lIns="0" tIns="0" rIns="0" bIns="0" anchor="t"/>
          <a:lstStyle/>
          <a:p>
            <a:pPr algn="l">
              <a:lnSpc>
                <a:spcPct val="125000"/>
              </a:lnSpc>
              <a:spcAft>
                <a:spcPts val="600"/>
              </a:spcAft>
            </a:pPr>
            <a:r>
              <a:rPr lang="ja-JP" sz="2160" b="1">
                <a:solidFill>
                  <a:srgbClr val="254D5C"/>
                </a:solidFill>
                <a:latin typeface="YuGothic"/>
                <a:ea typeface="YuGothic"/>
                <a:cs typeface="YuGothic"/>
              </a:rPr>
              <a:t>形成</a:t>
            </a:r>
            <a:endParaRPr lang="ja-JP" sz="2160"/>
          </a:p>
        </p:txBody>
      </p:sp>
      <p:sp>
        <p:nvSpPr>
          <p:cNvPr id="4" name="Text 4"/>
          <p:cNvSpPr txBox="1"/>
          <p:nvPr/>
        </p:nvSpPr>
        <p:spPr>
          <a:xfrm>
            <a:off x="2428875" y="2160270"/>
            <a:ext cx="8905875" cy="800100"/>
          </a:xfrm>
          <a:prstGeom prst="rect">
            <a:avLst/>
          </a:prstGeom>
          <a:noFill/>
          <a:ln>
            <a:noFill/>
          </a:ln>
        </p:spPr>
        <p:txBody>
          <a:bodyPr wrap="square" lIns="0" tIns="0" rIns="0" bIns="0" anchor="t"/>
          <a:lstStyle/>
          <a:p>
            <a:pPr algn="l">
              <a:lnSpc>
                <a:spcPct val="125000"/>
              </a:lnSpc>
              <a:spcAft>
                <a:spcPts val="600"/>
              </a:spcAft>
            </a:pPr>
            <a:r>
              <a:rPr lang="ja-JP" sz="2362" b="1">
                <a:solidFill>
                  <a:srgbClr val="253B46"/>
                </a:solidFill>
                <a:latin typeface="YuGothic"/>
                <a:ea typeface="YuGothic"/>
                <a:cs typeface="YuGothic"/>
              </a:rPr>
              <a:t>住宅不足に対応し、工場跡地で</a:t>
            </a:r>
            <a:endParaRPr lang="ja-JP" sz="2362"/>
          </a:p>
          <a:p>
            <a:pPr algn="l">
              <a:lnSpc>
                <a:spcPct val="125000"/>
              </a:lnSpc>
              <a:spcAft>
                <a:spcPts val="600"/>
              </a:spcAft>
            </a:pPr>
            <a:r>
              <a:rPr lang="ja-JP" sz="2362" b="1">
                <a:solidFill>
                  <a:srgbClr val="253B46"/>
                </a:solidFill>
                <a:latin typeface="YuGothic"/>
                <a:ea typeface="YuGothic"/>
                <a:cs typeface="YuGothic"/>
              </a:rPr>
              <a:t>住宅供給と市街地改善を進めた</a:t>
            </a:r>
            <a:endParaRPr lang="ja-JP" sz="2362"/>
          </a:p>
        </p:txBody>
      </p:sp>
      <p:sp>
        <p:nvSpPr>
          <p:cNvPr id="5" name="Text 5"/>
          <p:cNvSpPr txBox="1"/>
          <p:nvPr/>
        </p:nvSpPr>
        <p:spPr>
          <a:xfrm>
            <a:off x="609600" y="3504438"/>
            <a:ext cx="1714500" cy="440055"/>
          </a:xfrm>
          <a:prstGeom prst="rect">
            <a:avLst/>
          </a:prstGeom>
          <a:noFill/>
          <a:ln>
            <a:noFill/>
          </a:ln>
        </p:spPr>
        <p:txBody>
          <a:bodyPr wrap="square" lIns="0" tIns="0" rIns="0" bIns="0" anchor="t"/>
          <a:lstStyle/>
          <a:p>
            <a:pPr algn="l">
              <a:lnSpc>
                <a:spcPct val="125000"/>
              </a:lnSpc>
              <a:spcAft>
                <a:spcPts val="600"/>
              </a:spcAft>
            </a:pPr>
            <a:r>
              <a:rPr lang="ja-JP" sz="2160" b="1">
                <a:solidFill>
                  <a:srgbClr val="254D5C"/>
                </a:solidFill>
                <a:latin typeface="YuGothic"/>
                <a:ea typeface="YuGothic"/>
                <a:cs typeface="YuGothic"/>
              </a:rPr>
              <a:t>継続</a:t>
            </a:r>
            <a:endParaRPr lang="ja-JP" sz="2160"/>
          </a:p>
        </p:txBody>
      </p:sp>
      <p:sp>
        <p:nvSpPr>
          <p:cNvPr id="6" name="Text 6"/>
          <p:cNvSpPr txBox="1"/>
          <p:nvPr/>
        </p:nvSpPr>
        <p:spPr>
          <a:xfrm>
            <a:off x="2428875" y="3472434"/>
            <a:ext cx="8905875" cy="880110"/>
          </a:xfrm>
          <a:prstGeom prst="rect">
            <a:avLst/>
          </a:prstGeom>
          <a:noFill/>
          <a:ln>
            <a:noFill/>
          </a:ln>
        </p:spPr>
        <p:txBody>
          <a:bodyPr wrap="square" lIns="0" tIns="0" rIns="0" bIns="0" anchor="t"/>
          <a:lstStyle/>
          <a:p>
            <a:pPr algn="l">
              <a:lnSpc>
                <a:spcPct val="125000"/>
              </a:lnSpc>
              <a:spcAft>
                <a:spcPts val="600"/>
              </a:spcAft>
            </a:pPr>
            <a:r>
              <a:rPr lang="ja-JP" sz="2228" b="1">
                <a:solidFill>
                  <a:srgbClr val="253B46"/>
                </a:solidFill>
                <a:latin typeface="YuGothic"/>
                <a:ea typeface="YuGothic"/>
                <a:cs typeface="YuGothic"/>
              </a:rPr>
              <a:t>治水整備と住宅改修を重ね、</a:t>
            </a:r>
            <a:endParaRPr lang="ja-JP" sz="2228"/>
          </a:p>
          <a:p>
            <a:pPr algn="l">
              <a:lnSpc>
                <a:spcPct val="125000"/>
              </a:lnSpc>
              <a:spcAft>
                <a:spcPts val="600"/>
              </a:spcAft>
            </a:pPr>
            <a:r>
              <a:rPr lang="ja-JP" sz="2228" b="1">
                <a:solidFill>
                  <a:srgbClr val="253B46"/>
                </a:solidFill>
                <a:latin typeface="YuGothic"/>
                <a:ea typeface="YuGothic"/>
                <a:cs typeface="YuGothic"/>
              </a:rPr>
              <a:t>現在は浸水対応を伴う更新を計画している</a:t>
            </a:r>
            <a:endParaRPr lang="ja-JP" sz="2228"/>
          </a:p>
        </p:txBody>
      </p:sp>
      <p:sp>
        <p:nvSpPr>
          <p:cNvPr id="7" name="Text 7"/>
          <p:cNvSpPr txBox="1"/>
          <p:nvPr/>
        </p:nvSpPr>
        <p:spPr>
          <a:xfrm>
            <a:off x="609600" y="5064633"/>
            <a:ext cx="10858500" cy="840105"/>
          </a:xfrm>
          <a:prstGeom prst="rect">
            <a:avLst/>
          </a:prstGeom>
          <a:noFill/>
          <a:ln>
            <a:noFill/>
          </a:ln>
        </p:spPr>
        <p:txBody>
          <a:bodyPr wrap="square" lIns="0" tIns="0" rIns="0" bIns="0" anchor="t"/>
          <a:lstStyle/>
          <a:p>
            <a:pPr algn="l">
              <a:lnSpc>
                <a:spcPct val="125000"/>
              </a:lnSpc>
              <a:spcAft>
                <a:spcPts val="600"/>
              </a:spcAft>
            </a:pPr>
            <a:r>
              <a:rPr lang="ja-JP" sz="1822" b="0">
                <a:solidFill>
                  <a:srgbClr val="536B75"/>
                </a:solidFill>
                <a:latin typeface="YuGothic"/>
                <a:ea typeface="YuGothic"/>
                <a:cs typeface="YuGothic"/>
              </a:rPr>
              <a:t>治水施設が建設決定を直接導いたかは未確認。</a:t>
            </a:r>
            <a:endParaRPr lang="ja-JP" sz="1822"/>
          </a:p>
          <a:p>
            <a:pPr algn="l">
              <a:lnSpc>
                <a:spcPct val="125000"/>
              </a:lnSpc>
              <a:spcAft>
                <a:spcPts val="600"/>
              </a:spcAft>
            </a:pPr>
            <a:r>
              <a:rPr lang="ja-JP" sz="1822" b="0">
                <a:solidFill>
                  <a:srgbClr val="536B75"/>
                </a:solidFill>
                <a:latin typeface="YuGothic"/>
                <a:ea typeface="YuGothic"/>
                <a:cs typeface="YuGothic"/>
              </a:rPr>
              <a:t>対策があっても、最大規模の洪水想定は残る。</a:t>
            </a:r>
            <a:endParaRPr lang="ja-JP" sz="1822"/>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資料から確認した経緯と、そこからの歴史的解釈を区別</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09 / 11</a:t>
            </a:r>
            <a:endParaRPr lang="ja-JP" sz="1200"/>
          </a:p>
        </p:txBody>
      </p:sp>
      <p:sp>
        <p:nvSpPr>
          <p:cNvPr id="10"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1" descr="現在のスライド"/>
          <p:cNvSpPr/>
          <p:nvPr/>
        </p:nvSpPr>
        <p:spPr>
          <a:xfrm>
            <a:off x="919353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5"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09600" y="1057275"/>
            <a:ext cx="10953750" cy="666750"/>
          </a:xfrm>
          <a:prstGeom prst="rect">
            <a:avLst/>
          </a:prstGeom>
          <a:noFill/>
          <a:ln>
            <a:noFill/>
          </a:ln>
        </p:spPr>
        <p:txBody>
          <a:bodyPr wrap="square" lIns="0" tIns="0" rIns="0" bIns="0" anchor="t"/>
          <a:lstStyle/>
          <a:p>
            <a:pPr algn="l">
              <a:lnSpc>
                <a:spcPct val="115000"/>
              </a:lnSpc>
            </a:pPr>
            <a:r>
              <a:rPr lang="ja-JP" sz="3300" b="1">
                <a:solidFill>
                  <a:srgbClr val="152E3A"/>
                </a:solidFill>
                <a:latin typeface="YuGothic"/>
                <a:ea typeface="YuGothic"/>
                <a:cs typeface="YuGothic"/>
              </a:rPr>
              <a:t>考察：浸水想定と住宅地の継続</a:t>
            </a:r>
            <a:endParaRPr lang="ja-JP" sz="3300"/>
          </a:p>
        </p:txBody>
      </p:sp>
      <p:sp>
        <p:nvSpPr>
          <p:cNvPr id="3" name="考察の要点"/>
          <p:cNvSpPr txBox="1"/>
          <p:nvPr/>
        </p:nvSpPr>
        <p:spPr>
          <a:xfrm>
            <a:off x="609600" y="2076450"/>
            <a:ext cx="10906125" cy="904875"/>
          </a:xfrm>
          <a:prstGeom prst="rect">
            <a:avLst/>
          </a:prstGeom>
          <a:noFill/>
          <a:ln>
            <a:noFill/>
          </a:ln>
        </p:spPr>
        <p:txBody>
          <a:bodyPr wrap="square" lIns="0" tIns="0" rIns="0" bIns="0" anchor="t"/>
          <a:lstStyle/>
          <a:p>
            <a:pPr algn="l">
              <a:lnSpc>
                <a:spcPct val="115000"/>
              </a:lnSpc>
            </a:pPr>
            <a:r>
              <a:rPr lang="ja-JP" sz="2700" b="1">
                <a:solidFill>
                  <a:srgbClr val="254D5C"/>
                </a:solidFill>
                <a:latin typeface="YuGothic"/>
                <a:ea typeface="YuGothic"/>
                <a:cs typeface="YuGothic"/>
              </a:rPr>
              <a:t>対策を重ねても、最大規模の洪水では浸水を想定する</a:t>
            </a:r>
            <a:endParaRPr lang="ja-JP" sz="2700"/>
          </a:p>
        </p:txBody>
      </p:sp>
      <p:sp>
        <p:nvSpPr>
          <p:cNvPr id="4" name="歴史的な説明"/>
          <p:cNvSpPr txBox="1"/>
          <p:nvPr/>
        </p:nvSpPr>
        <p:spPr>
          <a:xfrm>
            <a:off x="609600" y="3352800"/>
            <a:ext cx="10906125" cy="1076325"/>
          </a:xfrm>
          <a:prstGeom prst="rect">
            <a:avLst/>
          </a:prstGeom>
          <a:noFill/>
          <a:ln>
            <a:noFill/>
          </a:ln>
        </p:spPr>
        <p:txBody>
          <a:bodyPr wrap="square" lIns="0" tIns="0" rIns="0" bIns="0" anchor="t"/>
          <a:lstStyle/>
          <a:p>
            <a:pPr algn="l">
              <a:lnSpc>
                <a:spcPct val="115000"/>
              </a:lnSpc>
            </a:pPr>
            <a:r>
              <a:rPr lang="ja-JP" sz="2250" b="0">
                <a:solidFill>
                  <a:srgbClr val="253B46"/>
                </a:solidFill>
                <a:latin typeface="YuGothic"/>
                <a:ea typeface="YuGothic"/>
                <a:cs typeface="YuGothic"/>
              </a:rPr>
              <a:t>住宅不足への対応と工場跡地の活用が、形成の背景にある。</a:t>
            </a:r>
            <a:endParaRPr lang="ja-JP" sz="2250"/>
          </a:p>
          <a:p>
            <a:pPr algn="l">
              <a:lnSpc>
                <a:spcPct val="115000"/>
              </a:lnSpc>
            </a:pPr>
            <a:r>
              <a:rPr lang="ja-JP" sz="2250" b="0">
                <a:solidFill>
                  <a:srgbClr val="253B46"/>
                </a:solidFill>
                <a:latin typeface="YuGothic"/>
                <a:ea typeface="YuGothic"/>
                <a:cs typeface="YuGothic"/>
              </a:rPr>
              <a:t>その後、住宅改修と地域の水害対策を重ねてきた。</a:t>
            </a:r>
            <a:endParaRPr lang="ja-JP" sz="2250"/>
          </a:p>
        </p:txBody>
      </p:sp>
      <p:sp>
        <p:nvSpPr>
          <p:cNvPr id="5" name="未確認の個別判断"/>
          <p:cNvSpPr txBox="1"/>
          <p:nvPr/>
        </p:nvSpPr>
        <p:spPr>
          <a:xfrm>
            <a:off x="609600" y="4933950"/>
            <a:ext cx="10906125" cy="523875"/>
          </a:xfrm>
          <a:prstGeom prst="rect">
            <a:avLst/>
          </a:prstGeom>
          <a:noFill/>
          <a:ln>
            <a:noFill/>
          </a:ln>
        </p:spPr>
        <p:txBody>
          <a:bodyPr wrap="square" lIns="0" tIns="0" rIns="0" bIns="0" anchor="t"/>
          <a:lstStyle/>
          <a:p>
            <a:pPr algn="l">
              <a:lnSpc>
                <a:spcPct val="115000"/>
              </a:lnSpc>
            </a:pPr>
            <a:r>
              <a:rPr lang="ja-JP" sz="2175" b="1">
                <a:solidFill>
                  <a:srgbClr val="536B75"/>
                </a:solidFill>
                <a:latin typeface="YuGothic"/>
                <a:ea typeface="YuGothic"/>
                <a:cs typeface="YuGothic"/>
              </a:rPr>
              <a:t>治水施設の完成が建設決定を直接導いたかは、未確認。</a:t>
            </a:r>
            <a:endParaRPr lang="ja-JP" sz="2175"/>
          </a:p>
        </p:txBody>
      </p:sp>
      <p:sp>
        <p:nvSpPr>
          <p:cNvPr id="6" name="検証の残る資料"/>
          <p:cNvSpPr txBox="1"/>
          <p:nvPr/>
        </p:nvSpPr>
        <p:spPr>
          <a:xfrm>
            <a:off x="609600" y="5638800"/>
            <a:ext cx="10906125" cy="428625"/>
          </a:xfrm>
          <a:prstGeom prst="rect">
            <a:avLst/>
          </a:prstGeom>
          <a:noFill/>
          <a:ln>
            <a:noFill/>
          </a:ln>
        </p:spPr>
        <p:txBody>
          <a:bodyPr wrap="square" lIns="0" tIns="0" rIns="0" bIns="0" anchor="t"/>
          <a:lstStyle/>
          <a:p>
            <a:pPr algn="l">
              <a:lnSpc>
                <a:spcPct val="115000"/>
              </a:lnSpc>
            </a:pPr>
            <a:r>
              <a:rPr lang="ja-JP" sz="1875" b="0">
                <a:solidFill>
                  <a:srgbClr val="536B75"/>
                </a:solidFill>
                <a:latin typeface="YuGothic"/>
                <a:ea typeface="YuGothic"/>
                <a:cs typeface="YuGothic"/>
              </a:rPr>
              <a:t>建設当時の用地選定・水害審査の原資料が、次の検証課題となる。</a:t>
            </a:r>
            <a:endParaRPr lang="ja-JP" sz="1875"/>
          </a:p>
        </p:txBody>
      </p:sp>
      <p:sp>
        <p:nvSpPr>
          <p:cNvPr id="7" name="Source"/>
          <p:cNvSpPr txBox="1"/>
          <p:nvPr/>
        </p:nvSpPr>
        <p:spPr>
          <a:xfrm>
            <a:off x="609600" y="6372225"/>
            <a:ext cx="10668000" cy="333375"/>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R1・R2・R5・R6 と研究資料に基づく考察。個別の因果効果や安全性の実証ではない</a:t>
            </a:r>
            <a:endParaRPr lang="ja-JP" sz="1200"/>
          </a:p>
        </p:txBody>
      </p:sp>
      <p:sp>
        <p:nvSpPr>
          <p:cNvPr id="8" name="Page"/>
          <p:cNvSpPr txBox="1"/>
          <p:nvPr/>
        </p:nvSpPr>
        <p:spPr>
          <a:xfrm>
            <a:off x="11106150" y="6362700"/>
            <a:ext cx="762000" cy="285750"/>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10 / 11</a:t>
            </a:r>
            <a:endParaRPr lang="ja-JP" sz="1200"/>
          </a:p>
        </p:txBody>
      </p:sp>
      <p:sp>
        <p:nvSpPr>
          <p:cNvPr id="9"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1" descr="現在のスライド"/>
          <p:cNvSpPr/>
          <p:nvPr/>
        </p:nvSpPr>
        <p:spPr>
          <a:xfrm>
            <a:off x="1024509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5" name="進行 11/11"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参照資料</a:t>
            </a:r>
            <a:endParaRPr lang="ja-JP" sz="3300"/>
          </a:p>
        </p:txBody>
      </p:sp>
      <p:sp>
        <p:nvSpPr>
          <p:cNvPr id="3" name="Text 3"/>
          <p:cNvSpPr txBox="1"/>
          <p:nvPr/>
        </p:nvSpPr>
        <p:spPr>
          <a:xfrm>
            <a:off x="609600" y="2104263"/>
            <a:ext cx="10906125" cy="3440430"/>
          </a:xfrm>
          <a:prstGeom prst="rect">
            <a:avLst/>
          </a:prstGeom>
          <a:noFill/>
          <a:ln>
            <a:noFill/>
          </a:ln>
        </p:spPr>
        <p:txBody>
          <a:bodyPr wrap="square" lIns="0" tIns="0" rIns="0" bIns="0" anchor="t"/>
          <a:lstStyle/>
          <a:p>
            <a:pPr algn="l">
              <a:lnSpc>
                <a:spcPct val="125000"/>
              </a:lnSpc>
              <a:spcAft>
                <a:spcPts val="600"/>
              </a:spcAft>
            </a:pPr>
            <a:r>
              <a:rPr lang="ja-JP" sz="1822" b="0">
                <a:solidFill>
                  <a:srgbClr val="253B46"/>
                </a:solidFill>
                <a:latin typeface="YuGothic"/>
                <a:ea typeface="YuGothic"/>
                <a:cs typeface="YuGothic"/>
              </a:rPr>
              <a:t>R1　国土交通省掲載「大島四丁目団地説明資料」</a:t>
            </a:r>
            <a:endParaRPr lang="ja-JP" sz="1822"/>
          </a:p>
          <a:p>
            <a:pPr algn="l">
              <a:lnSpc>
                <a:spcPct val="125000"/>
              </a:lnSpc>
              <a:spcAft>
                <a:spcPts val="600"/>
              </a:spcAft>
            </a:pPr>
            <a:r>
              <a:rPr lang="ja-JP" sz="1822" b="0">
                <a:solidFill>
                  <a:srgbClr val="253B46"/>
                </a:solidFill>
                <a:latin typeface="YuGothic"/>
                <a:ea typeface="YuGothic"/>
                <a:cs typeface="YuGothic"/>
              </a:rPr>
              <a:t>R2　江東区「大島四丁目エリアまちづくり方針」2025年</a:t>
            </a:r>
            <a:endParaRPr lang="ja-JP" sz="1822"/>
          </a:p>
          <a:p>
            <a:pPr algn="l">
              <a:lnSpc>
                <a:spcPct val="125000"/>
              </a:lnSpc>
              <a:spcAft>
                <a:spcPts val="600"/>
              </a:spcAft>
            </a:pPr>
            <a:r>
              <a:rPr lang="ja-JP" sz="1822" b="0">
                <a:solidFill>
                  <a:srgbClr val="253B46"/>
                </a:solidFill>
                <a:latin typeface="YuGothic"/>
                <a:ea typeface="YuGothic"/>
                <a:cs typeface="YuGothic"/>
              </a:rPr>
              <a:t>R3　江東区「江東区のあゆみ」2026年</a:t>
            </a:r>
            <a:endParaRPr lang="ja-JP" sz="1822"/>
          </a:p>
          <a:p>
            <a:pPr algn="l">
              <a:lnSpc>
                <a:spcPct val="125000"/>
              </a:lnSpc>
              <a:spcAft>
                <a:spcPts val="600"/>
              </a:spcAft>
            </a:pPr>
            <a:r>
              <a:rPr lang="ja-JP" sz="1822" b="0">
                <a:solidFill>
                  <a:srgbClr val="253B46"/>
                </a:solidFill>
                <a:latin typeface="YuGothic"/>
                <a:ea typeface="YuGothic"/>
                <a:cs typeface="YuGothic"/>
              </a:rPr>
              <a:t>R4　昭和44年版政府白書「各地の地盤沈下の現況」</a:t>
            </a:r>
            <a:endParaRPr lang="ja-JP" sz="1822"/>
          </a:p>
          <a:p>
            <a:pPr algn="l">
              <a:lnSpc>
                <a:spcPct val="125000"/>
              </a:lnSpc>
              <a:spcAft>
                <a:spcPts val="600"/>
              </a:spcAft>
            </a:pPr>
            <a:r>
              <a:rPr lang="ja-JP" sz="1822" b="0">
                <a:solidFill>
                  <a:srgbClr val="253B46"/>
                </a:solidFill>
                <a:latin typeface="YuGothic"/>
                <a:ea typeface="YuGothic"/>
                <a:cs typeface="YuGothic"/>
              </a:rPr>
              <a:t>R5　東京都建設局「江東内部河川」</a:t>
            </a:r>
            <a:endParaRPr lang="ja-JP" sz="1822"/>
          </a:p>
          <a:p>
            <a:pPr algn="l">
              <a:lnSpc>
                <a:spcPct val="125000"/>
              </a:lnSpc>
              <a:spcAft>
                <a:spcPts val="600"/>
              </a:spcAft>
            </a:pPr>
            <a:r>
              <a:rPr lang="ja-JP" sz="1822" b="0">
                <a:solidFill>
                  <a:srgbClr val="253B46"/>
                </a:solidFill>
                <a:latin typeface="YuGothic"/>
                <a:ea typeface="YuGothic"/>
                <a:cs typeface="YuGothic"/>
              </a:rPr>
              <a:t>R6　江東区「水害ハザードマップ」現行版の条件説明</a:t>
            </a:r>
            <a:endParaRPr lang="ja-JP" sz="1822"/>
          </a:p>
          <a:p>
            <a:pPr algn="l">
              <a:lnSpc>
                <a:spcPct val="125000"/>
              </a:lnSpc>
              <a:spcAft>
                <a:spcPts val="600"/>
              </a:spcAft>
            </a:pPr>
            <a:r>
              <a:rPr lang="ja-JP" sz="1822" b="0">
                <a:solidFill>
                  <a:srgbClr val="253B46"/>
                </a:solidFill>
                <a:latin typeface="YuGothic"/>
                <a:ea typeface="YuGothic"/>
                <a:cs typeface="YuGothic"/>
              </a:rPr>
              <a:t>R7　RESAS「地域人口メッシュ分析」2020年総人口</a:t>
            </a:r>
            <a:endParaRPr lang="ja-JP" sz="1822"/>
          </a:p>
        </p:txBody>
      </p:sp>
      <p:sp>
        <p:nvSpPr>
          <p:cNvPr id="4" name="Text 4"/>
          <p:cNvSpPr txBox="1"/>
          <p:nvPr/>
        </p:nvSpPr>
        <p:spPr>
          <a:xfrm>
            <a:off x="609600" y="5656707"/>
            <a:ext cx="10906125" cy="360045"/>
          </a:xfrm>
          <a:prstGeom prst="rect">
            <a:avLst/>
          </a:prstGeom>
          <a:noFill/>
          <a:ln>
            <a:noFill/>
          </a:ln>
        </p:spPr>
        <p:txBody>
          <a:bodyPr wrap="square" lIns="0" tIns="0" rIns="0" bIns="0" anchor="t"/>
          <a:lstStyle/>
          <a:p>
            <a:pPr algn="l">
              <a:lnSpc>
                <a:spcPct val="125000"/>
              </a:lnSpc>
              <a:spcAft>
                <a:spcPts val="600"/>
              </a:spcAft>
            </a:pPr>
            <a:r>
              <a:rPr lang="ja-JP" sz="1552" b="0">
                <a:solidFill>
                  <a:srgbClr val="536B75"/>
                </a:solidFill>
                <a:latin typeface="YuGothic"/>
                <a:ea typeface="YuGothic"/>
                <a:cs typeface="YuGothic"/>
              </a:rPr>
              <a:t>URL・掲載ページ・資料の限界は、各スライドのノートとMarkdownに記載</a:t>
            </a:r>
            <a:endParaRPr lang="ja-JP" sz="1552"/>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資料確認日 2026年10月26日</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11 / 11</a:t>
            </a:r>
            <a:endParaRPr lang="ja-JP" sz="1200"/>
          </a:p>
        </p:txBody>
      </p:sp>
      <p:sp>
        <p:nvSpPr>
          <p:cNvPr id="7" name="章 導入"/>
          <p:cNvSpPr txBox="1"/>
          <p:nvPr/>
        </p:nvSpPr>
        <p:spPr>
          <a:xfrm>
            <a:off x="41148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8" name="章 現状"/>
          <p:cNvSpPr txBox="1"/>
          <p:nvPr/>
        </p:nvSpPr>
        <p:spPr>
          <a:xfrm>
            <a:off x="25146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461772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0" name="章 継続"/>
          <p:cNvSpPr txBox="1"/>
          <p:nvPr/>
        </p:nvSpPr>
        <p:spPr>
          <a:xfrm>
            <a:off x="672084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82396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資料</a:t>
            </a:r>
            <a:endParaRPr lang="ja-JP" sz="1650"/>
          </a:p>
        </p:txBody>
      </p:sp>
      <p:sp>
        <p:nvSpPr>
          <p:cNvPr id="13" name="進行 1/11"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4" name="進行 2/11" descr="他のスライド"/>
          <p:cNvSpPr/>
          <p:nvPr/>
        </p:nvSpPr>
        <p:spPr>
          <a:xfrm>
            <a:off x="18326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1" descr="他のスライド"/>
          <p:cNvSpPr/>
          <p:nvPr/>
        </p:nvSpPr>
        <p:spPr>
          <a:xfrm>
            <a:off x="28841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1" descr="他のスライド"/>
          <p:cNvSpPr/>
          <p:nvPr/>
        </p:nvSpPr>
        <p:spPr>
          <a:xfrm>
            <a:off x="39357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1" descr="他のスライド"/>
          <p:cNvSpPr/>
          <p:nvPr/>
        </p:nvSpPr>
        <p:spPr>
          <a:xfrm>
            <a:off x="49872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1" descr="他のスライド"/>
          <p:cNvSpPr/>
          <p:nvPr/>
        </p:nvSpPr>
        <p:spPr>
          <a:xfrm>
            <a:off x="60388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7/11" descr="他のスライド"/>
          <p:cNvSpPr/>
          <p:nvPr/>
        </p:nvSpPr>
        <p:spPr>
          <a:xfrm>
            <a:off x="709041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8/11" descr="他のスライド"/>
          <p:cNvSpPr/>
          <p:nvPr/>
        </p:nvSpPr>
        <p:spPr>
          <a:xfrm>
            <a:off x="814197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1" descr="他のスライド"/>
          <p:cNvSpPr/>
          <p:nvPr/>
        </p:nvSpPr>
        <p:spPr>
          <a:xfrm>
            <a:off x="919353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1" descr="他のスライド"/>
          <p:cNvSpPr/>
          <p:nvPr/>
        </p:nvSpPr>
        <p:spPr>
          <a:xfrm>
            <a:off x="10245090"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1" descr="現在のスライド"/>
          <p:cNvSpPr/>
          <p:nvPr/>
        </p:nvSpPr>
        <p:spPr>
          <a:xfrm>
            <a:off x="11296650" y="581025"/>
            <a:ext cx="114300" cy="114300"/>
          </a:xfrm>
          <a:prstGeom prst="ellipse">
            <a:avLst/>
          </a:prstGeom>
          <a:solidFill>
            <a:srgbClr val="254D5C"/>
          </a:solidFill>
          <a:ln w="14287">
            <a:solidFill>
              <a:srgbClr val="254D5C"/>
            </a:solidFill>
          </a:ln>
        </p:spPr>
        <p:txBody>
          <a:bodyPr/>
          <a:lstStyle/>
          <a:p>
            <a:endParaRPr lang="ja-JP" altLang="en-US"/>
          </a:p>
        </p:txBody>
      </p:sp>
    </p:spTree>
  </p:cSld>
  <p:clrMapOvr>
    <a:masterClrMapping/>
  </p:clrMapOvr>
</p:sld>
</file>

<file path=ppt/theme/theme1.xml><?xml version="1.0" encoding="utf-8"?>
<a:theme xmlns:a="http://schemas.openxmlformats.org/drawingml/2006/main" name="Ojima Research">
  <a:themeElements>
    <a:clrScheme name="Research">
      <a:dk1>
        <a:srgbClr val="152E3A"/>
      </a:dk1>
      <a:lt1>
        <a:srgbClr val="FFFFFF"/>
      </a:lt1>
      <a:dk2>
        <a:srgbClr val="253B46"/>
      </a:dk2>
      <a:lt2>
        <a:srgbClr val="F0F4F5"/>
      </a:lt2>
      <a:accent1>
        <a:srgbClr val="254D5C"/>
      </a:accent1>
      <a:accent2>
        <a:srgbClr val="C47758"/>
      </a:accent2>
      <a:accent3>
        <a:srgbClr val="768E7D"/>
      </a:accent3>
      <a:accent4>
        <a:srgbClr val="9CACC2"/>
      </a:accent4>
      <a:accent5>
        <a:srgbClr val="BBAE86"/>
      </a:accent5>
      <a:accent6>
        <a:srgbClr val="A48C9D"/>
      </a:accent6>
      <a:hlink>
        <a:srgbClr val="255E84"/>
      </a:hlink>
      <a:folHlink>
        <a:srgbClr val="765480"/>
      </a:folHlink>
    </a:clrScheme>
    <a:fontScheme name="Japanese">
      <a:majorFont>
        <a:latin typeface="YuGothic"/>
        <a:ea typeface="YuGothic"/>
        <a:cs typeface="YuGothic"/>
      </a:majorFont>
      <a:minorFont>
        <a:latin typeface="YuGothic"/>
        <a:ea typeface="YuGothic"/>
        <a:cs typeface="YuGothic"/>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2573</Words>
  <Application>Microsoft Macintosh PowerPoint</Application>
  <PresentationFormat>ワイド画面</PresentationFormat>
  <Paragraphs>221</Paragraphs>
  <Slides>11</Slides>
  <Notes>11</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11</vt:i4>
      </vt:variant>
    </vt:vector>
  </HeadingPairs>
  <TitlesOfParts>
    <vt:vector size="13" baseType="lpstr">
      <vt:lpstr>YuGothic</vt:lpstr>
      <vt:lpstr>Ojima Research</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si26005</cp:lastModifiedBy>
  <cp:revision>1</cp:revision>
  <dcterms:modified xsi:type="dcterms:W3CDTF">2026-10-26T09:19:20Z</dcterms:modified>
</cp:coreProperties>
</file>